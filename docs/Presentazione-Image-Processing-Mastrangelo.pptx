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30"/>
  </p:notesMasterIdLst>
  <p:sldIdLst>
    <p:sldId id="256" r:id="rId2"/>
    <p:sldId id="258" r:id="rId3"/>
    <p:sldId id="263" r:id="rId4"/>
    <p:sldId id="259" r:id="rId5"/>
    <p:sldId id="267" r:id="rId6"/>
    <p:sldId id="303" r:id="rId7"/>
    <p:sldId id="305" r:id="rId8"/>
    <p:sldId id="279" r:id="rId9"/>
    <p:sldId id="272" r:id="rId10"/>
    <p:sldId id="261" r:id="rId11"/>
    <p:sldId id="306" r:id="rId12"/>
    <p:sldId id="262" r:id="rId13"/>
    <p:sldId id="269" r:id="rId14"/>
    <p:sldId id="307" r:id="rId15"/>
    <p:sldId id="264" r:id="rId16"/>
    <p:sldId id="314" r:id="rId17"/>
    <p:sldId id="309" r:id="rId18"/>
    <p:sldId id="311" r:id="rId19"/>
    <p:sldId id="266" r:id="rId20"/>
    <p:sldId id="315" r:id="rId21"/>
    <p:sldId id="316" r:id="rId22"/>
    <p:sldId id="317" r:id="rId23"/>
    <p:sldId id="318" r:id="rId24"/>
    <p:sldId id="319" r:id="rId25"/>
    <p:sldId id="320" r:id="rId26"/>
    <p:sldId id="321" r:id="rId27"/>
    <p:sldId id="322" r:id="rId28"/>
    <p:sldId id="323" r:id="rId29"/>
  </p:sldIdLst>
  <p:sldSz cx="9144000" cy="5143500" type="screen16x9"/>
  <p:notesSz cx="6858000" cy="9144000"/>
  <p:embeddedFontLst>
    <p:embeddedFont>
      <p:font typeface="Archivo" panose="020B0604020202020204" charset="0"/>
      <p:regular r:id="rId31"/>
      <p:bold r:id="rId32"/>
      <p:italic r:id="rId33"/>
      <p:boldItalic r:id="rId34"/>
    </p:embeddedFont>
    <p:embeddedFont>
      <p:font typeface="Archivo Black" panose="020B0604020202020204" charset="0"/>
      <p:bold r:id="rId35"/>
      <p:boldItalic r:id="rId36"/>
    </p:embeddedFont>
    <p:embeddedFont>
      <p:font typeface="Cambria Math" panose="02040503050406030204" pitchFamily="18" charset="0"/>
      <p:regular r:id="rId37"/>
    </p:embeddedFont>
    <p:embeddedFont>
      <p:font typeface="DM Sans" panose="020B0604020202020204" charset="0"/>
      <p:regular r:id="rId38"/>
      <p:bold r:id="rId39"/>
      <p:italic r:id="rId40"/>
      <p:boldItalic r:id="rId41"/>
    </p:embeddedFont>
    <p:embeddedFont>
      <p:font typeface="Manrope" panose="020B0604020202020204" charset="0"/>
      <p:regular r:id="rId42"/>
      <p:bold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774BD92-4280-4CDA-A4DB-E54EABF5BE53}">
  <a:tblStyle styleId="{8774BD92-4280-4CDA-A4DB-E54EABF5BE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82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ec9722e163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ec9722e163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>
          <a:extLst>
            <a:ext uri="{FF2B5EF4-FFF2-40B4-BE49-F238E27FC236}">
              <a16:creationId xmlns:a16="http://schemas.microsoft.com/office/drawing/2014/main" id="{501BAD31-8183-D459-0298-13A098FEA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20f4d7b453e_0_823:notes">
            <a:extLst>
              <a:ext uri="{FF2B5EF4-FFF2-40B4-BE49-F238E27FC236}">
                <a16:creationId xmlns:a16="http://schemas.microsoft.com/office/drawing/2014/main" id="{50E6C410-807C-B603-B571-EA8F29B4C5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20f4d7b453e_0_823:notes">
            <a:extLst>
              <a:ext uri="{FF2B5EF4-FFF2-40B4-BE49-F238E27FC236}">
                <a16:creationId xmlns:a16="http://schemas.microsoft.com/office/drawing/2014/main" id="{B635B311-E212-308E-69A7-D2A738984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40407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>
          <a:extLst>
            <a:ext uri="{FF2B5EF4-FFF2-40B4-BE49-F238E27FC236}">
              <a16:creationId xmlns:a16="http://schemas.microsoft.com/office/drawing/2014/main" id="{E8FB1FAC-C5C7-7DC7-916C-456E0AF6E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ec9722e163_0_136:notes">
            <a:extLst>
              <a:ext uri="{FF2B5EF4-FFF2-40B4-BE49-F238E27FC236}">
                <a16:creationId xmlns:a16="http://schemas.microsoft.com/office/drawing/2014/main" id="{10F04EAF-5FAE-53AE-A4D3-67C84A2B39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ec9722e163_0_136:notes">
            <a:extLst>
              <a:ext uri="{FF2B5EF4-FFF2-40B4-BE49-F238E27FC236}">
                <a16:creationId xmlns:a16="http://schemas.microsoft.com/office/drawing/2014/main" id="{4E8A4D61-D340-989D-D8EE-665F9B530B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0272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2766bbf9ec9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2766bbf9ec9_0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0f4d7b453e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0f4d7b453e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1dfe0b786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1dfe0b786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>
          <a:extLst>
            <a:ext uri="{FF2B5EF4-FFF2-40B4-BE49-F238E27FC236}">
              <a16:creationId xmlns:a16="http://schemas.microsoft.com/office/drawing/2014/main" id="{EF049F53-1673-7242-9131-8719FB4EC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0f4d7b453e_0_332:notes">
            <a:extLst>
              <a:ext uri="{FF2B5EF4-FFF2-40B4-BE49-F238E27FC236}">
                <a16:creationId xmlns:a16="http://schemas.microsoft.com/office/drawing/2014/main" id="{290C5585-9ACC-D856-DA5C-C6456396D3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0f4d7b453e_0_332:notes">
            <a:extLst>
              <a:ext uri="{FF2B5EF4-FFF2-40B4-BE49-F238E27FC236}">
                <a16:creationId xmlns:a16="http://schemas.microsoft.com/office/drawing/2014/main" id="{FF4C8B83-3914-55C5-880E-03422DD6AB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57066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ec9722e163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ec9722e163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0f4d7b453e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20f4d7b453e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>
          <a:extLst>
            <a:ext uri="{FF2B5EF4-FFF2-40B4-BE49-F238E27FC236}">
              <a16:creationId xmlns:a16="http://schemas.microsoft.com/office/drawing/2014/main" id="{B321285F-C15C-955C-EC82-1AAE8630F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1dfe0b786a0_0_0:notes">
            <a:extLst>
              <a:ext uri="{FF2B5EF4-FFF2-40B4-BE49-F238E27FC236}">
                <a16:creationId xmlns:a16="http://schemas.microsoft.com/office/drawing/2014/main" id="{F5E88345-CBC0-43FB-37D2-1EDCD8CDDD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1dfe0b786a0_0_0:notes">
            <a:extLst>
              <a:ext uri="{FF2B5EF4-FFF2-40B4-BE49-F238E27FC236}">
                <a16:creationId xmlns:a16="http://schemas.microsoft.com/office/drawing/2014/main" id="{2C887493-3632-4256-3ACC-B5AAEE3C66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57671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>
          <a:extLst>
            <a:ext uri="{FF2B5EF4-FFF2-40B4-BE49-F238E27FC236}">
              <a16:creationId xmlns:a16="http://schemas.microsoft.com/office/drawing/2014/main" id="{390B709C-F1E3-116F-4792-3AEEF4C74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20f4d7b453e_0_823:notes">
            <a:extLst>
              <a:ext uri="{FF2B5EF4-FFF2-40B4-BE49-F238E27FC236}">
                <a16:creationId xmlns:a16="http://schemas.microsoft.com/office/drawing/2014/main" id="{B97831A8-7E47-AFDF-E458-859B934ECB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20f4d7b453e_0_823:notes">
            <a:extLst>
              <a:ext uri="{FF2B5EF4-FFF2-40B4-BE49-F238E27FC236}">
                <a16:creationId xmlns:a16="http://schemas.microsoft.com/office/drawing/2014/main" id="{E12DF30B-3643-2EE1-8C36-7EEA4B017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02557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>
          <a:extLst>
            <a:ext uri="{FF2B5EF4-FFF2-40B4-BE49-F238E27FC236}">
              <a16:creationId xmlns:a16="http://schemas.microsoft.com/office/drawing/2014/main" id="{614A51DC-A756-D9E5-EDDD-2E8AF293D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0f4d7b453e_0_27:notes">
            <a:extLst>
              <a:ext uri="{FF2B5EF4-FFF2-40B4-BE49-F238E27FC236}">
                <a16:creationId xmlns:a16="http://schemas.microsoft.com/office/drawing/2014/main" id="{EA8D8BD9-42D3-A7E6-D6A1-69991B0BAB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20f4d7b453e_0_27:notes">
            <a:extLst>
              <a:ext uri="{FF2B5EF4-FFF2-40B4-BE49-F238E27FC236}">
                <a16:creationId xmlns:a16="http://schemas.microsoft.com/office/drawing/2014/main" id="{54528447-B434-B9E7-E4AA-079B561DAC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18021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>
          <a:extLst>
            <a:ext uri="{FF2B5EF4-FFF2-40B4-BE49-F238E27FC236}">
              <a16:creationId xmlns:a16="http://schemas.microsoft.com/office/drawing/2014/main" id="{F60B52E3-4234-C6E8-C28C-B705FD1EC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20f4d7b453e_0_823:notes">
            <a:extLst>
              <a:ext uri="{FF2B5EF4-FFF2-40B4-BE49-F238E27FC236}">
                <a16:creationId xmlns:a16="http://schemas.microsoft.com/office/drawing/2014/main" id="{A54EF23E-31A3-01D0-37F2-1C62D993A9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20f4d7b453e_0_823:notes">
            <a:extLst>
              <a:ext uri="{FF2B5EF4-FFF2-40B4-BE49-F238E27FC236}">
                <a16:creationId xmlns:a16="http://schemas.microsoft.com/office/drawing/2014/main" id="{BE8F943B-5BE9-80B4-9598-24D2654808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25035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>
          <a:extLst>
            <a:ext uri="{FF2B5EF4-FFF2-40B4-BE49-F238E27FC236}">
              <a16:creationId xmlns:a16="http://schemas.microsoft.com/office/drawing/2014/main" id="{EB566C31-FEA7-37A9-A2AF-409837573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20f4d7b453e_0_823:notes">
            <a:extLst>
              <a:ext uri="{FF2B5EF4-FFF2-40B4-BE49-F238E27FC236}">
                <a16:creationId xmlns:a16="http://schemas.microsoft.com/office/drawing/2014/main" id="{C899974B-3BC8-C6B6-8ABF-A5C6541E02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20f4d7b453e_0_823:notes">
            <a:extLst>
              <a:ext uri="{FF2B5EF4-FFF2-40B4-BE49-F238E27FC236}">
                <a16:creationId xmlns:a16="http://schemas.microsoft.com/office/drawing/2014/main" id="{881021AA-89B9-059B-A12D-7CE5F13843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01710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0">
          <a:extLst>
            <a:ext uri="{FF2B5EF4-FFF2-40B4-BE49-F238E27FC236}">
              <a16:creationId xmlns:a16="http://schemas.microsoft.com/office/drawing/2014/main" id="{6F87ACFC-332E-B414-3FF7-D97681245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ec9722e163_0_963:notes">
            <a:extLst>
              <a:ext uri="{FF2B5EF4-FFF2-40B4-BE49-F238E27FC236}">
                <a16:creationId xmlns:a16="http://schemas.microsoft.com/office/drawing/2014/main" id="{D9673659-1FDB-99FF-116F-B659A102EF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ec9722e163_0_963:notes">
            <a:extLst>
              <a:ext uri="{FF2B5EF4-FFF2-40B4-BE49-F238E27FC236}">
                <a16:creationId xmlns:a16="http://schemas.microsoft.com/office/drawing/2014/main" id="{35367C14-F57C-74FA-49A3-1A41F5766B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39884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>
          <a:extLst>
            <a:ext uri="{FF2B5EF4-FFF2-40B4-BE49-F238E27FC236}">
              <a16:creationId xmlns:a16="http://schemas.microsoft.com/office/drawing/2014/main" id="{F573E16B-22CA-B5C1-95F3-74AFB082A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d5260bdd85_0_256:notes">
            <a:extLst>
              <a:ext uri="{FF2B5EF4-FFF2-40B4-BE49-F238E27FC236}">
                <a16:creationId xmlns:a16="http://schemas.microsoft.com/office/drawing/2014/main" id="{2B383275-CC3F-CBDB-5269-A162973A78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d5260bdd85_0_256:notes">
            <a:extLst>
              <a:ext uri="{FF2B5EF4-FFF2-40B4-BE49-F238E27FC236}">
                <a16:creationId xmlns:a16="http://schemas.microsoft.com/office/drawing/2014/main" id="{EE6998B0-C49C-7BC3-2261-3AC431448A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183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>
          <a:extLst>
            <a:ext uri="{FF2B5EF4-FFF2-40B4-BE49-F238E27FC236}">
              <a16:creationId xmlns:a16="http://schemas.microsoft.com/office/drawing/2014/main" id="{789F42E7-FB6E-ECF4-11D8-02080471D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d5260bdd85_0_256:notes">
            <a:extLst>
              <a:ext uri="{FF2B5EF4-FFF2-40B4-BE49-F238E27FC236}">
                <a16:creationId xmlns:a16="http://schemas.microsoft.com/office/drawing/2014/main" id="{C588ACC3-2CA8-3E73-9277-34D1305BBA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d5260bdd85_0_256:notes">
            <a:extLst>
              <a:ext uri="{FF2B5EF4-FFF2-40B4-BE49-F238E27FC236}">
                <a16:creationId xmlns:a16="http://schemas.microsoft.com/office/drawing/2014/main" id="{618F9191-E0CF-F885-5D67-8989C1109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47592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>
          <a:extLst>
            <a:ext uri="{FF2B5EF4-FFF2-40B4-BE49-F238E27FC236}">
              <a16:creationId xmlns:a16="http://schemas.microsoft.com/office/drawing/2014/main" id="{FFB74169-11D9-82EE-DB81-690B0484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d5260bdd85_0_256:notes">
            <a:extLst>
              <a:ext uri="{FF2B5EF4-FFF2-40B4-BE49-F238E27FC236}">
                <a16:creationId xmlns:a16="http://schemas.microsoft.com/office/drawing/2014/main" id="{30AE7AF8-0B4B-0C2E-9C5A-503DECFD7D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d5260bdd85_0_256:notes">
            <a:extLst>
              <a:ext uri="{FF2B5EF4-FFF2-40B4-BE49-F238E27FC236}">
                <a16:creationId xmlns:a16="http://schemas.microsoft.com/office/drawing/2014/main" id="{3FADDE08-A7AF-D694-9241-6C7ED832F0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91669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>
          <a:extLst>
            <a:ext uri="{FF2B5EF4-FFF2-40B4-BE49-F238E27FC236}">
              <a16:creationId xmlns:a16="http://schemas.microsoft.com/office/drawing/2014/main" id="{A08102FC-B18D-8B8B-E1CC-5514EB42F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d5260bdd85_0_256:notes">
            <a:extLst>
              <a:ext uri="{FF2B5EF4-FFF2-40B4-BE49-F238E27FC236}">
                <a16:creationId xmlns:a16="http://schemas.microsoft.com/office/drawing/2014/main" id="{7453D436-BACF-0D1E-7F72-915146A96A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d5260bdd85_0_256:notes">
            <a:extLst>
              <a:ext uri="{FF2B5EF4-FFF2-40B4-BE49-F238E27FC236}">
                <a16:creationId xmlns:a16="http://schemas.microsoft.com/office/drawing/2014/main" id="{9DC51D1F-BEEB-7F7C-6380-AD1EDBCED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92261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>
          <a:extLst>
            <a:ext uri="{FF2B5EF4-FFF2-40B4-BE49-F238E27FC236}">
              <a16:creationId xmlns:a16="http://schemas.microsoft.com/office/drawing/2014/main" id="{521DF83C-82D2-8780-70BD-705507992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20f4d7b453e_0_688:notes">
            <a:extLst>
              <a:ext uri="{FF2B5EF4-FFF2-40B4-BE49-F238E27FC236}">
                <a16:creationId xmlns:a16="http://schemas.microsoft.com/office/drawing/2014/main" id="{1D4E6428-0C5F-61CE-0046-B5B6BD40DA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20f4d7b453e_0_688:notes">
            <a:extLst>
              <a:ext uri="{FF2B5EF4-FFF2-40B4-BE49-F238E27FC236}">
                <a16:creationId xmlns:a16="http://schemas.microsoft.com/office/drawing/2014/main" id="{0068B7D8-A027-EEC1-FFD5-E0C2A040EC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506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>
          <a:extLst>
            <a:ext uri="{FF2B5EF4-FFF2-40B4-BE49-F238E27FC236}">
              <a16:creationId xmlns:a16="http://schemas.microsoft.com/office/drawing/2014/main" id="{C8BC3EEB-50B1-DCD3-4822-39147741A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20f4d7b453e_0_688:notes">
            <a:extLst>
              <a:ext uri="{FF2B5EF4-FFF2-40B4-BE49-F238E27FC236}">
                <a16:creationId xmlns:a16="http://schemas.microsoft.com/office/drawing/2014/main" id="{8E7C437B-9F4F-51E7-D2AB-B8C9228F6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20f4d7b453e_0_688:notes">
            <a:extLst>
              <a:ext uri="{FF2B5EF4-FFF2-40B4-BE49-F238E27FC236}">
                <a16:creationId xmlns:a16="http://schemas.microsoft.com/office/drawing/2014/main" id="{066677D8-7409-EEA2-92C7-DA1678306C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43783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>
          <a:extLst>
            <a:ext uri="{FF2B5EF4-FFF2-40B4-BE49-F238E27FC236}">
              <a16:creationId xmlns:a16="http://schemas.microsoft.com/office/drawing/2014/main" id="{5C00E5F9-1BAF-6C29-A44B-C9750A0BA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20f4d7b453e_0_688:notes">
            <a:extLst>
              <a:ext uri="{FF2B5EF4-FFF2-40B4-BE49-F238E27FC236}">
                <a16:creationId xmlns:a16="http://schemas.microsoft.com/office/drawing/2014/main" id="{BF4D9538-DE58-1B80-102B-7CDE065942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20f4d7b453e_0_688:notes">
            <a:extLst>
              <a:ext uri="{FF2B5EF4-FFF2-40B4-BE49-F238E27FC236}">
                <a16:creationId xmlns:a16="http://schemas.microsoft.com/office/drawing/2014/main" id="{0F0CE588-E59C-D182-D3C2-A52A3E8FAA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4957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4807500" cy="2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2733950"/>
            <a:ext cx="2237400" cy="6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5654925" y="1312525"/>
            <a:ext cx="2852100" cy="2852100"/>
          </a:xfrm>
          <a:prstGeom prst="ellipse">
            <a:avLst/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33575" y="1967900"/>
            <a:ext cx="4410900" cy="136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789425" y="539500"/>
            <a:ext cx="1046700" cy="13353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733575" y="3376700"/>
            <a:ext cx="2770800" cy="7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>
            <a:spLocks noGrp="1"/>
          </p:cNvSpPr>
          <p:nvPr>
            <p:ph type="pic" idx="3"/>
          </p:nvPr>
        </p:nvSpPr>
        <p:spPr>
          <a:xfrm>
            <a:off x="5397500" y="1055100"/>
            <a:ext cx="3033300" cy="30333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17" name="Google Shape;17;p3"/>
          <p:cNvGrpSpPr/>
          <p:nvPr/>
        </p:nvGrpSpPr>
        <p:grpSpPr>
          <a:xfrm>
            <a:off x="3660304" y="399825"/>
            <a:ext cx="1309796" cy="257750"/>
            <a:chOff x="-6337521" y="4362225"/>
            <a:chExt cx="1309796" cy="257750"/>
          </a:xfrm>
        </p:grpSpPr>
        <p:sp>
          <p:nvSpPr>
            <p:cNvPr id="18" name="Google Shape;18;p3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65" name="Google Shape;65;p6"/>
          <p:cNvGrpSpPr/>
          <p:nvPr/>
        </p:nvGrpSpPr>
        <p:grpSpPr>
          <a:xfrm>
            <a:off x="7267300" y="387525"/>
            <a:ext cx="2456449" cy="5138686"/>
            <a:chOff x="7267300" y="387525"/>
            <a:chExt cx="2456449" cy="5138686"/>
          </a:xfrm>
        </p:grpSpPr>
        <p:grpSp>
          <p:nvGrpSpPr>
            <p:cNvPr id="66" name="Google Shape;66;p6"/>
            <p:cNvGrpSpPr/>
            <p:nvPr/>
          </p:nvGrpSpPr>
          <p:grpSpPr>
            <a:xfrm rot="10800000" flipH="1">
              <a:off x="7432804" y="387525"/>
              <a:ext cx="1309796" cy="257750"/>
              <a:chOff x="-6337521" y="4362225"/>
              <a:chExt cx="1309796" cy="257750"/>
            </a:xfrm>
          </p:grpSpPr>
          <p:sp>
            <p:nvSpPr>
              <p:cNvPr id="67" name="Google Shape;67;p6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6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6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6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6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6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6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6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6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6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6"/>
            <p:cNvGrpSpPr/>
            <p:nvPr/>
          </p:nvGrpSpPr>
          <p:grpSpPr>
            <a:xfrm rot="10800000" flipH="1">
              <a:off x="7267300" y="3608800"/>
              <a:ext cx="2456449" cy="1917411"/>
              <a:chOff x="7267300" y="-366311"/>
              <a:chExt cx="2456449" cy="1917411"/>
            </a:xfrm>
          </p:grpSpPr>
          <p:sp>
            <p:nvSpPr>
              <p:cNvPr id="78" name="Google Shape;78;p6"/>
              <p:cNvSpPr/>
              <p:nvPr/>
            </p:nvSpPr>
            <p:spPr>
              <a:xfrm rot="-5400000" flipH="1">
                <a:off x="7653475" y="-50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6"/>
              <p:cNvSpPr/>
              <p:nvPr/>
            </p:nvSpPr>
            <p:spPr>
              <a:xfrm rot="2699366" flipH="1">
                <a:off x="8648903" y="6424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6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6"/>
              <p:cNvSpPr/>
              <p:nvPr/>
            </p:nvSpPr>
            <p:spPr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>
            <a:spLocks noGrp="1"/>
          </p:cNvSpPr>
          <p:nvPr>
            <p:ph type="subTitle" idx="1"/>
          </p:nvPr>
        </p:nvSpPr>
        <p:spPr>
          <a:xfrm>
            <a:off x="4255610" y="1667625"/>
            <a:ext cx="3030900" cy="24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subTitle" idx="2"/>
          </p:nvPr>
        </p:nvSpPr>
        <p:spPr>
          <a:xfrm>
            <a:off x="720000" y="1667625"/>
            <a:ext cx="3030900" cy="24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86" name="Google Shape;86;p7"/>
          <p:cNvGrpSpPr/>
          <p:nvPr/>
        </p:nvGrpSpPr>
        <p:grpSpPr>
          <a:xfrm>
            <a:off x="2212504" y="2617594"/>
            <a:ext cx="7422682" cy="2776688"/>
            <a:chOff x="2212504" y="2617594"/>
            <a:chExt cx="7422682" cy="2776688"/>
          </a:xfrm>
        </p:grpSpPr>
        <p:grpSp>
          <p:nvGrpSpPr>
            <p:cNvPr id="87" name="Google Shape;87;p7"/>
            <p:cNvGrpSpPr/>
            <p:nvPr/>
          </p:nvGrpSpPr>
          <p:grpSpPr>
            <a:xfrm>
              <a:off x="2212504" y="4514625"/>
              <a:ext cx="1309796" cy="257750"/>
              <a:chOff x="-6337521" y="4362225"/>
              <a:chExt cx="1309796" cy="257750"/>
            </a:xfrm>
          </p:grpSpPr>
          <p:sp>
            <p:nvSpPr>
              <p:cNvPr id="88" name="Google Shape;88;p7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7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7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7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7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7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7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7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7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7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" name="Google Shape;98;p7"/>
            <p:cNvGrpSpPr/>
            <p:nvPr/>
          </p:nvGrpSpPr>
          <p:grpSpPr>
            <a:xfrm>
              <a:off x="6687000" y="2617594"/>
              <a:ext cx="2948185" cy="2776688"/>
              <a:chOff x="6687000" y="2617594"/>
              <a:chExt cx="2948185" cy="2776688"/>
            </a:xfrm>
          </p:grpSpPr>
          <p:sp>
            <p:nvSpPr>
              <p:cNvPr id="99" name="Google Shape;99;p7"/>
              <p:cNvSpPr/>
              <p:nvPr/>
            </p:nvSpPr>
            <p:spPr>
              <a:xfrm flipH="1">
                <a:off x="6687000" y="2703525"/>
                <a:ext cx="2457000" cy="24471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7"/>
              <p:cNvSpPr/>
              <p:nvPr/>
            </p:nvSpPr>
            <p:spPr>
              <a:xfrm rot="-2699590">
                <a:off x="7946885" y="3849460"/>
                <a:ext cx="1780000" cy="477721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7"/>
              <p:cNvSpPr/>
              <p:nvPr/>
            </p:nvSpPr>
            <p:spPr>
              <a:xfrm rot="-2700000">
                <a:off x="6857259" y="4943944"/>
                <a:ext cx="996172" cy="11497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7"/>
              <p:cNvSpPr/>
              <p:nvPr/>
            </p:nvSpPr>
            <p:spPr>
              <a:xfrm>
                <a:off x="6962498" y="355377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7"/>
              <p:cNvSpPr/>
              <p:nvPr/>
            </p:nvSpPr>
            <p:spPr>
              <a:xfrm rot="-2699590">
                <a:off x="7651509" y="3199003"/>
                <a:ext cx="1780000" cy="326683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440025"/>
            <a:ext cx="4032900" cy="1080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5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4" name="Google Shape;144;p11"/>
          <p:cNvSpPr txBox="1">
            <a:spLocks noGrp="1"/>
          </p:cNvSpPr>
          <p:nvPr>
            <p:ph type="subTitle" idx="1"/>
          </p:nvPr>
        </p:nvSpPr>
        <p:spPr>
          <a:xfrm>
            <a:off x="713225" y="2520575"/>
            <a:ext cx="2816700" cy="7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5" name="Google Shape;145;p11"/>
          <p:cNvSpPr>
            <a:spLocks noGrp="1"/>
          </p:cNvSpPr>
          <p:nvPr>
            <p:ph type="pic" idx="2"/>
          </p:nvPr>
        </p:nvSpPr>
        <p:spPr>
          <a:xfrm>
            <a:off x="5397500" y="1055100"/>
            <a:ext cx="3033300" cy="30333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146" name="Google Shape;146;p11"/>
          <p:cNvGrpSpPr/>
          <p:nvPr/>
        </p:nvGrpSpPr>
        <p:grpSpPr>
          <a:xfrm rot="10800000" flipH="1">
            <a:off x="3333904" y="4349289"/>
            <a:ext cx="1309796" cy="257750"/>
            <a:chOff x="-6337521" y="4362225"/>
            <a:chExt cx="1309796" cy="257750"/>
          </a:xfrm>
        </p:grpSpPr>
        <p:sp>
          <p:nvSpPr>
            <p:cNvPr id="147" name="Google Shape;147;p11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subTitle" idx="1"/>
          </p:nvPr>
        </p:nvSpPr>
        <p:spPr>
          <a:xfrm>
            <a:off x="1578601" y="2296975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subTitle" idx="2"/>
          </p:nvPr>
        </p:nvSpPr>
        <p:spPr>
          <a:xfrm>
            <a:off x="1578601" y="3954230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3"/>
          <p:cNvSpPr txBox="1">
            <a:spLocks noGrp="1"/>
          </p:cNvSpPr>
          <p:nvPr>
            <p:ph type="subTitle" idx="3"/>
          </p:nvPr>
        </p:nvSpPr>
        <p:spPr>
          <a:xfrm>
            <a:off x="5534500" y="3954200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subTitle" idx="4"/>
          </p:nvPr>
        </p:nvSpPr>
        <p:spPr>
          <a:xfrm>
            <a:off x="5534500" y="2296975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title" idx="5" hasCustomPrompt="1"/>
          </p:nvPr>
        </p:nvSpPr>
        <p:spPr>
          <a:xfrm>
            <a:off x="796200" y="1633675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 idx="6" hasCustomPrompt="1"/>
          </p:nvPr>
        </p:nvSpPr>
        <p:spPr>
          <a:xfrm>
            <a:off x="4750950" y="3290775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6" name="Google Shape;166;p13"/>
          <p:cNvSpPr txBox="1">
            <a:spLocks noGrp="1"/>
          </p:cNvSpPr>
          <p:nvPr>
            <p:ph type="title" idx="7" hasCustomPrompt="1"/>
          </p:nvPr>
        </p:nvSpPr>
        <p:spPr>
          <a:xfrm>
            <a:off x="796200" y="3290900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7" name="Google Shape;167;p13"/>
          <p:cNvSpPr txBox="1">
            <a:spLocks noGrp="1"/>
          </p:cNvSpPr>
          <p:nvPr>
            <p:ph type="title" idx="8" hasCustomPrompt="1"/>
          </p:nvPr>
        </p:nvSpPr>
        <p:spPr>
          <a:xfrm>
            <a:off x="4750950" y="1633575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8" name="Google Shape;168;p13"/>
          <p:cNvSpPr txBox="1">
            <a:spLocks noGrp="1"/>
          </p:cNvSpPr>
          <p:nvPr>
            <p:ph type="subTitle" idx="9"/>
          </p:nvPr>
        </p:nvSpPr>
        <p:spPr>
          <a:xfrm>
            <a:off x="1578600" y="1633675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subTitle" idx="13"/>
          </p:nvPr>
        </p:nvSpPr>
        <p:spPr>
          <a:xfrm>
            <a:off x="1578600" y="3290939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subTitle" idx="14"/>
          </p:nvPr>
        </p:nvSpPr>
        <p:spPr>
          <a:xfrm>
            <a:off x="5534500" y="3290901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1" name="Google Shape;171;p13"/>
          <p:cNvSpPr txBox="1">
            <a:spLocks noGrp="1"/>
          </p:cNvSpPr>
          <p:nvPr>
            <p:ph type="subTitle" idx="15"/>
          </p:nvPr>
        </p:nvSpPr>
        <p:spPr>
          <a:xfrm>
            <a:off x="5534500" y="1633675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72" name="Google Shape;172;p13"/>
          <p:cNvGrpSpPr/>
          <p:nvPr/>
        </p:nvGrpSpPr>
        <p:grpSpPr>
          <a:xfrm>
            <a:off x="7527475" y="-437123"/>
            <a:ext cx="2304049" cy="2076084"/>
            <a:chOff x="7527475" y="-437123"/>
            <a:chExt cx="2304049" cy="2076084"/>
          </a:xfrm>
        </p:grpSpPr>
        <p:sp>
          <p:nvSpPr>
            <p:cNvPr id="173" name="Google Shape;173;p13"/>
            <p:cNvSpPr/>
            <p:nvPr/>
          </p:nvSpPr>
          <p:spPr>
            <a:xfrm rot="-5400000" flipH="1">
              <a:off x="7653475" y="-58150"/>
              <a:ext cx="1554600" cy="15486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4" name="Google Shape;174;p13"/>
            <p:cNvGrpSpPr/>
            <p:nvPr/>
          </p:nvGrpSpPr>
          <p:grpSpPr>
            <a:xfrm>
              <a:off x="7527475" y="-190576"/>
              <a:ext cx="2304049" cy="1829537"/>
              <a:chOff x="7267300" y="-366311"/>
              <a:chExt cx="2304049" cy="1829537"/>
            </a:xfrm>
          </p:grpSpPr>
          <p:sp>
            <p:nvSpPr>
              <p:cNvPr id="175" name="Google Shape;175;p13"/>
              <p:cNvSpPr/>
              <p:nvPr/>
            </p:nvSpPr>
            <p:spPr>
              <a:xfrm rot="2699366" flipH="1">
                <a:off x="8496503" y="4900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3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3"/>
              <p:cNvSpPr/>
              <p:nvPr/>
            </p:nvSpPr>
            <p:spPr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8" name="Google Shape;178;p13"/>
            <p:cNvSpPr/>
            <p:nvPr/>
          </p:nvSpPr>
          <p:spPr>
            <a:xfrm rot="2700000">
              <a:off x="7775558" y="-183425"/>
              <a:ext cx="770464" cy="12770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16"/>
          <p:cNvSpPr txBox="1">
            <a:spLocks noGrp="1"/>
          </p:cNvSpPr>
          <p:nvPr>
            <p:ph type="subTitle" idx="1"/>
          </p:nvPr>
        </p:nvSpPr>
        <p:spPr>
          <a:xfrm>
            <a:off x="5064125" y="2877325"/>
            <a:ext cx="2736900" cy="12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6" name="Google Shape;226;p16"/>
          <p:cNvSpPr txBox="1">
            <a:spLocks noGrp="1"/>
          </p:cNvSpPr>
          <p:nvPr>
            <p:ph type="subTitle" idx="2"/>
          </p:nvPr>
        </p:nvSpPr>
        <p:spPr>
          <a:xfrm>
            <a:off x="1342985" y="2877325"/>
            <a:ext cx="2736900" cy="12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7" name="Google Shape;227;p16"/>
          <p:cNvSpPr txBox="1">
            <a:spLocks noGrp="1"/>
          </p:cNvSpPr>
          <p:nvPr>
            <p:ph type="subTitle" idx="3"/>
          </p:nvPr>
        </p:nvSpPr>
        <p:spPr>
          <a:xfrm>
            <a:off x="5064125" y="2447425"/>
            <a:ext cx="27369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28" name="Google Shape;228;p16"/>
          <p:cNvSpPr txBox="1">
            <a:spLocks noGrp="1"/>
          </p:cNvSpPr>
          <p:nvPr>
            <p:ph type="subTitle" idx="4"/>
          </p:nvPr>
        </p:nvSpPr>
        <p:spPr>
          <a:xfrm>
            <a:off x="1342975" y="2447425"/>
            <a:ext cx="27369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229" name="Google Shape;229;p16"/>
          <p:cNvGrpSpPr/>
          <p:nvPr/>
        </p:nvGrpSpPr>
        <p:grpSpPr>
          <a:xfrm>
            <a:off x="7432804" y="387525"/>
            <a:ext cx="2398720" cy="5136986"/>
            <a:chOff x="7432804" y="387525"/>
            <a:chExt cx="2398720" cy="5136986"/>
          </a:xfrm>
        </p:grpSpPr>
        <p:grpSp>
          <p:nvGrpSpPr>
            <p:cNvPr id="230" name="Google Shape;230;p16"/>
            <p:cNvGrpSpPr/>
            <p:nvPr/>
          </p:nvGrpSpPr>
          <p:grpSpPr>
            <a:xfrm rot="10800000" flipH="1">
              <a:off x="7527475" y="3448427"/>
              <a:ext cx="2304049" cy="2076084"/>
              <a:chOff x="7527475" y="-437123"/>
              <a:chExt cx="2304049" cy="2076084"/>
            </a:xfrm>
          </p:grpSpPr>
          <p:sp>
            <p:nvSpPr>
              <p:cNvPr id="231" name="Google Shape;231;p16"/>
              <p:cNvSpPr/>
              <p:nvPr/>
            </p:nvSpPr>
            <p:spPr>
              <a:xfrm rot="-5400000" flipH="1">
                <a:off x="7653475" y="-5815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2" name="Google Shape;232;p16"/>
              <p:cNvGrpSpPr/>
              <p:nvPr/>
            </p:nvGrpSpPr>
            <p:grpSpPr>
              <a:xfrm>
                <a:off x="7527475" y="-190576"/>
                <a:ext cx="2304049" cy="1829537"/>
                <a:chOff x="7267300" y="-366311"/>
                <a:chExt cx="2304049" cy="1829537"/>
              </a:xfrm>
            </p:grpSpPr>
            <p:sp>
              <p:nvSpPr>
                <p:cNvPr id="233" name="Google Shape;233;p16"/>
                <p:cNvSpPr/>
                <p:nvPr/>
              </p:nvSpPr>
              <p:spPr>
                <a:xfrm rot="2699366" flipH="1">
                  <a:off x="8496503" y="490078"/>
                  <a:ext cx="1150392" cy="26261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4" name="Google Shape;234;p16"/>
                <p:cNvSpPr/>
                <p:nvPr/>
              </p:nvSpPr>
              <p:spPr>
                <a:xfrm>
                  <a:off x="7719598" y="153426"/>
                  <a:ext cx="1309800" cy="13098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lg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" name="Google Shape;235;p16"/>
                <p:cNvSpPr/>
                <p:nvPr/>
              </p:nvSpPr>
              <p:spPr>
                <a:xfrm rot="2699336" flipH="1">
                  <a:off x="7177884" y="-7536"/>
                  <a:ext cx="1098632" cy="20195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36" name="Google Shape;236;p16"/>
              <p:cNvSpPr/>
              <p:nvPr/>
            </p:nvSpPr>
            <p:spPr>
              <a:xfrm rot="2700000">
                <a:off x="7775558" y="-183425"/>
                <a:ext cx="770464" cy="127703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7" name="Google Shape;237;p16"/>
            <p:cNvGrpSpPr/>
            <p:nvPr/>
          </p:nvGrpSpPr>
          <p:grpSpPr>
            <a:xfrm rot="10800000" flipH="1">
              <a:off x="7432804" y="387525"/>
              <a:ext cx="1309796" cy="257750"/>
              <a:chOff x="-6337521" y="4362225"/>
              <a:chExt cx="1309796" cy="257750"/>
            </a:xfrm>
          </p:grpSpPr>
          <p:sp>
            <p:nvSpPr>
              <p:cNvPr id="238" name="Google Shape;238;p16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16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6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6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6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6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6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6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6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6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_1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18"/>
          <p:cNvSpPr txBox="1">
            <a:spLocks noGrp="1"/>
          </p:cNvSpPr>
          <p:nvPr>
            <p:ph type="subTitle" idx="1"/>
          </p:nvPr>
        </p:nvSpPr>
        <p:spPr>
          <a:xfrm>
            <a:off x="937700" y="30771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18"/>
          <p:cNvSpPr txBox="1">
            <a:spLocks noGrp="1"/>
          </p:cNvSpPr>
          <p:nvPr>
            <p:ph type="subTitle" idx="2"/>
          </p:nvPr>
        </p:nvSpPr>
        <p:spPr>
          <a:xfrm>
            <a:off x="3484421" y="30771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18"/>
          <p:cNvSpPr txBox="1">
            <a:spLocks noGrp="1"/>
          </p:cNvSpPr>
          <p:nvPr>
            <p:ph type="subTitle" idx="3"/>
          </p:nvPr>
        </p:nvSpPr>
        <p:spPr>
          <a:xfrm>
            <a:off x="6031148" y="30771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18"/>
          <p:cNvSpPr txBox="1">
            <a:spLocks noGrp="1"/>
          </p:cNvSpPr>
          <p:nvPr>
            <p:ph type="subTitle" idx="4"/>
          </p:nvPr>
        </p:nvSpPr>
        <p:spPr>
          <a:xfrm>
            <a:off x="937625" y="2646325"/>
            <a:ext cx="21753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5" name="Google Shape;275;p18"/>
          <p:cNvSpPr txBox="1">
            <a:spLocks noGrp="1"/>
          </p:cNvSpPr>
          <p:nvPr>
            <p:ph type="subTitle" idx="5"/>
          </p:nvPr>
        </p:nvSpPr>
        <p:spPr>
          <a:xfrm>
            <a:off x="3484346" y="2646325"/>
            <a:ext cx="21753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6" name="Google Shape;276;p18"/>
          <p:cNvSpPr txBox="1">
            <a:spLocks noGrp="1"/>
          </p:cNvSpPr>
          <p:nvPr>
            <p:ph type="subTitle" idx="6"/>
          </p:nvPr>
        </p:nvSpPr>
        <p:spPr>
          <a:xfrm>
            <a:off x="6031073" y="2646325"/>
            <a:ext cx="21753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277" name="Google Shape;277;p18"/>
          <p:cNvGrpSpPr/>
          <p:nvPr/>
        </p:nvGrpSpPr>
        <p:grpSpPr>
          <a:xfrm>
            <a:off x="7527475" y="-437123"/>
            <a:ext cx="2304049" cy="2076084"/>
            <a:chOff x="7527475" y="-437123"/>
            <a:chExt cx="2304049" cy="2076084"/>
          </a:xfrm>
        </p:grpSpPr>
        <p:sp>
          <p:nvSpPr>
            <p:cNvPr id="278" name="Google Shape;278;p18"/>
            <p:cNvSpPr/>
            <p:nvPr/>
          </p:nvSpPr>
          <p:spPr>
            <a:xfrm rot="-5400000" flipH="1">
              <a:off x="7653475" y="-58150"/>
              <a:ext cx="1554600" cy="15486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9" name="Google Shape;279;p18"/>
            <p:cNvGrpSpPr/>
            <p:nvPr/>
          </p:nvGrpSpPr>
          <p:grpSpPr>
            <a:xfrm>
              <a:off x="7527475" y="-190576"/>
              <a:ext cx="2304049" cy="1829537"/>
              <a:chOff x="7267300" y="-366311"/>
              <a:chExt cx="2304049" cy="1829537"/>
            </a:xfrm>
          </p:grpSpPr>
          <p:sp>
            <p:nvSpPr>
              <p:cNvPr id="280" name="Google Shape;280;p18"/>
              <p:cNvSpPr/>
              <p:nvPr/>
            </p:nvSpPr>
            <p:spPr>
              <a:xfrm rot="2699366" flipH="1">
                <a:off x="8496503" y="4900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8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8"/>
              <p:cNvSpPr/>
              <p:nvPr/>
            </p:nvSpPr>
            <p:spPr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3" name="Google Shape;283;p18"/>
            <p:cNvSpPr/>
            <p:nvPr/>
          </p:nvSpPr>
          <p:spPr>
            <a:xfrm rot="2700000">
              <a:off x="7775558" y="-183425"/>
              <a:ext cx="770464" cy="12770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4" name="Google Shape;284;p18"/>
          <p:cNvGrpSpPr/>
          <p:nvPr/>
        </p:nvGrpSpPr>
        <p:grpSpPr>
          <a:xfrm>
            <a:off x="3917102" y="4514625"/>
            <a:ext cx="1309796" cy="257750"/>
            <a:chOff x="-6337521" y="4362225"/>
            <a:chExt cx="1309796" cy="257750"/>
          </a:xfrm>
        </p:grpSpPr>
        <p:sp>
          <p:nvSpPr>
            <p:cNvPr id="285" name="Google Shape;285;p18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8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8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8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8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8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8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8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8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8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19"/>
          <p:cNvSpPr txBox="1">
            <a:spLocks noGrp="1"/>
          </p:cNvSpPr>
          <p:nvPr>
            <p:ph type="subTitle" idx="1"/>
          </p:nvPr>
        </p:nvSpPr>
        <p:spPr>
          <a:xfrm>
            <a:off x="1668869" y="20016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19"/>
          <p:cNvSpPr txBox="1">
            <a:spLocks noGrp="1"/>
          </p:cNvSpPr>
          <p:nvPr>
            <p:ph type="subTitle" idx="2"/>
          </p:nvPr>
        </p:nvSpPr>
        <p:spPr>
          <a:xfrm>
            <a:off x="5711722" y="20016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19"/>
          <p:cNvSpPr txBox="1">
            <a:spLocks noGrp="1"/>
          </p:cNvSpPr>
          <p:nvPr>
            <p:ph type="subTitle" idx="3"/>
          </p:nvPr>
        </p:nvSpPr>
        <p:spPr>
          <a:xfrm>
            <a:off x="1668869" y="3325493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19"/>
          <p:cNvSpPr txBox="1">
            <a:spLocks noGrp="1"/>
          </p:cNvSpPr>
          <p:nvPr>
            <p:ph type="subTitle" idx="4"/>
          </p:nvPr>
        </p:nvSpPr>
        <p:spPr>
          <a:xfrm>
            <a:off x="5711722" y="3325493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19"/>
          <p:cNvSpPr txBox="1">
            <a:spLocks noGrp="1"/>
          </p:cNvSpPr>
          <p:nvPr>
            <p:ph type="subTitle" idx="5"/>
          </p:nvPr>
        </p:nvSpPr>
        <p:spPr>
          <a:xfrm>
            <a:off x="1668865" y="1610569"/>
            <a:ext cx="19782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2" name="Google Shape;302;p19"/>
          <p:cNvSpPr txBox="1">
            <a:spLocks noGrp="1"/>
          </p:cNvSpPr>
          <p:nvPr>
            <p:ph type="subTitle" idx="6"/>
          </p:nvPr>
        </p:nvSpPr>
        <p:spPr>
          <a:xfrm>
            <a:off x="5711717" y="1610569"/>
            <a:ext cx="19782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3" name="Google Shape;303;p19"/>
          <p:cNvSpPr txBox="1">
            <a:spLocks noGrp="1"/>
          </p:cNvSpPr>
          <p:nvPr>
            <p:ph type="subTitle" idx="7"/>
          </p:nvPr>
        </p:nvSpPr>
        <p:spPr>
          <a:xfrm>
            <a:off x="1668865" y="2935775"/>
            <a:ext cx="19782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4" name="Google Shape;304;p19"/>
          <p:cNvSpPr txBox="1">
            <a:spLocks noGrp="1"/>
          </p:cNvSpPr>
          <p:nvPr>
            <p:ph type="subTitle" idx="8"/>
          </p:nvPr>
        </p:nvSpPr>
        <p:spPr>
          <a:xfrm>
            <a:off x="5711717" y="2935775"/>
            <a:ext cx="19782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305" name="Google Shape;305;p19"/>
          <p:cNvGrpSpPr/>
          <p:nvPr/>
        </p:nvGrpSpPr>
        <p:grpSpPr>
          <a:xfrm>
            <a:off x="7527475" y="-437123"/>
            <a:ext cx="2304049" cy="2076084"/>
            <a:chOff x="7527475" y="-437123"/>
            <a:chExt cx="2304049" cy="2076084"/>
          </a:xfrm>
        </p:grpSpPr>
        <p:sp>
          <p:nvSpPr>
            <p:cNvPr id="306" name="Google Shape;306;p19"/>
            <p:cNvSpPr/>
            <p:nvPr/>
          </p:nvSpPr>
          <p:spPr>
            <a:xfrm rot="-5400000" flipH="1">
              <a:off x="7653475" y="-58150"/>
              <a:ext cx="1554600" cy="15486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7" name="Google Shape;307;p19"/>
            <p:cNvGrpSpPr/>
            <p:nvPr/>
          </p:nvGrpSpPr>
          <p:grpSpPr>
            <a:xfrm>
              <a:off x="7527475" y="-190576"/>
              <a:ext cx="2304049" cy="1829537"/>
              <a:chOff x="7267300" y="-366311"/>
              <a:chExt cx="2304049" cy="1829537"/>
            </a:xfrm>
          </p:grpSpPr>
          <p:sp>
            <p:nvSpPr>
              <p:cNvPr id="308" name="Google Shape;308;p19"/>
              <p:cNvSpPr/>
              <p:nvPr/>
            </p:nvSpPr>
            <p:spPr>
              <a:xfrm rot="2699366" flipH="1">
                <a:off x="8496503" y="4900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11" name="Google Shape;311;p19"/>
            <p:cNvSpPr/>
            <p:nvPr/>
          </p:nvSpPr>
          <p:spPr>
            <a:xfrm rot="2700000">
              <a:off x="7775558" y="-183425"/>
              <a:ext cx="770464" cy="12770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" name="Google Shape;312;p19"/>
          <p:cNvGrpSpPr/>
          <p:nvPr/>
        </p:nvGrpSpPr>
        <p:grpSpPr>
          <a:xfrm>
            <a:off x="3505627" y="4514625"/>
            <a:ext cx="1309796" cy="257750"/>
            <a:chOff x="-6337521" y="4362225"/>
            <a:chExt cx="1309796" cy="257750"/>
          </a:xfrm>
        </p:grpSpPr>
        <p:sp>
          <p:nvSpPr>
            <p:cNvPr id="313" name="Google Shape;313;p19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9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9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9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9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9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9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9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9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9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346" name="Google Shape;346;p21"/>
          <p:cNvGrpSpPr/>
          <p:nvPr/>
        </p:nvGrpSpPr>
        <p:grpSpPr>
          <a:xfrm>
            <a:off x="7267300" y="-374475"/>
            <a:ext cx="2456449" cy="5138686"/>
            <a:chOff x="7267300" y="-374475"/>
            <a:chExt cx="2456449" cy="5138686"/>
          </a:xfrm>
        </p:grpSpPr>
        <p:grpSp>
          <p:nvGrpSpPr>
            <p:cNvPr id="347" name="Google Shape;347;p21"/>
            <p:cNvGrpSpPr/>
            <p:nvPr/>
          </p:nvGrpSpPr>
          <p:grpSpPr>
            <a:xfrm>
              <a:off x="7432804" y="4506461"/>
              <a:ext cx="1309796" cy="257750"/>
              <a:chOff x="-6337521" y="4362225"/>
              <a:chExt cx="1309796" cy="257750"/>
            </a:xfrm>
          </p:grpSpPr>
          <p:sp>
            <p:nvSpPr>
              <p:cNvPr id="348" name="Google Shape;348;p21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21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21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21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21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21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21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21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21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21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8" name="Google Shape;358;p21"/>
            <p:cNvGrpSpPr/>
            <p:nvPr/>
          </p:nvGrpSpPr>
          <p:grpSpPr>
            <a:xfrm>
              <a:off x="7267300" y="-374475"/>
              <a:ext cx="2456449" cy="1917411"/>
              <a:chOff x="7267300" y="-366311"/>
              <a:chExt cx="2456449" cy="1917411"/>
            </a:xfrm>
          </p:grpSpPr>
          <p:sp>
            <p:nvSpPr>
              <p:cNvPr id="359" name="Google Shape;359;p21"/>
              <p:cNvSpPr/>
              <p:nvPr/>
            </p:nvSpPr>
            <p:spPr>
              <a:xfrm rot="-5400000" flipH="1">
                <a:off x="7653475" y="-50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21"/>
              <p:cNvSpPr/>
              <p:nvPr/>
            </p:nvSpPr>
            <p:spPr>
              <a:xfrm rot="2699366" flipH="1">
                <a:off x="8648903" y="6424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21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21"/>
              <p:cNvSpPr/>
              <p:nvPr/>
            </p:nvSpPr>
            <p:spPr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2_1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"/>
          <p:cNvSpPr txBox="1">
            <a:spLocks noGrp="1"/>
          </p:cNvSpPr>
          <p:nvPr>
            <p:ph type="title"/>
          </p:nvPr>
        </p:nvSpPr>
        <p:spPr>
          <a:xfrm>
            <a:off x="720000" y="1222900"/>
            <a:ext cx="4275900" cy="173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22"/>
          <p:cNvSpPr txBox="1">
            <a:spLocks noGrp="1"/>
          </p:cNvSpPr>
          <p:nvPr>
            <p:ph type="subTitle" idx="1"/>
          </p:nvPr>
        </p:nvSpPr>
        <p:spPr>
          <a:xfrm>
            <a:off x="720000" y="3055100"/>
            <a:ext cx="3519600" cy="86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22"/>
          <p:cNvSpPr>
            <a:spLocks noGrp="1"/>
          </p:cNvSpPr>
          <p:nvPr>
            <p:ph type="pic" idx="2"/>
          </p:nvPr>
        </p:nvSpPr>
        <p:spPr>
          <a:xfrm>
            <a:off x="5397500" y="1055100"/>
            <a:ext cx="3033300" cy="30333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367" name="Google Shape;367;p22"/>
          <p:cNvGrpSpPr/>
          <p:nvPr/>
        </p:nvGrpSpPr>
        <p:grpSpPr>
          <a:xfrm rot="10800000" flipH="1">
            <a:off x="5362579" y="4349289"/>
            <a:ext cx="1309796" cy="257750"/>
            <a:chOff x="-6337521" y="4362225"/>
            <a:chExt cx="1309796" cy="257750"/>
          </a:xfrm>
        </p:grpSpPr>
        <p:sp>
          <p:nvSpPr>
            <p:cNvPr id="368" name="Google Shape;368;p22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3"/>
          <p:cNvSpPr txBox="1">
            <a:spLocks noGrp="1"/>
          </p:cNvSpPr>
          <p:nvPr>
            <p:ph type="title"/>
          </p:nvPr>
        </p:nvSpPr>
        <p:spPr>
          <a:xfrm>
            <a:off x="720000" y="1476950"/>
            <a:ext cx="3045900" cy="7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80" name="Google Shape;380;p23"/>
          <p:cNvSpPr txBox="1">
            <a:spLocks noGrp="1"/>
          </p:cNvSpPr>
          <p:nvPr>
            <p:ph type="subTitle" idx="1"/>
          </p:nvPr>
        </p:nvSpPr>
        <p:spPr>
          <a:xfrm>
            <a:off x="720000" y="2183225"/>
            <a:ext cx="3045900" cy="12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81" name="Google Shape;381;p23"/>
          <p:cNvGrpSpPr/>
          <p:nvPr/>
        </p:nvGrpSpPr>
        <p:grpSpPr>
          <a:xfrm rot="10800000" flipH="1">
            <a:off x="5173104" y="269054"/>
            <a:ext cx="1309796" cy="257750"/>
            <a:chOff x="-6337521" y="4362225"/>
            <a:chExt cx="1309796" cy="257750"/>
          </a:xfrm>
        </p:grpSpPr>
        <p:sp>
          <p:nvSpPr>
            <p:cNvPr id="382" name="Google Shape;382;p23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3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3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3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3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3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3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3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3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3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25"/>
          <p:cNvGrpSpPr/>
          <p:nvPr/>
        </p:nvGrpSpPr>
        <p:grpSpPr>
          <a:xfrm>
            <a:off x="7267300" y="-374475"/>
            <a:ext cx="2456449" cy="5138686"/>
            <a:chOff x="7267300" y="-374475"/>
            <a:chExt cx="2456449" cy="5138686"/>
          </a:xfrm>
        </p:grpSpPr>
        <p:grpSp>
          <p:nvGrpSpPr>
            <p:cNvPr id="410" name="Google Shape;410;p25"/>
            <p:cNvGrpSpPr/>
            <p:nvPr/>
          </p:nvGrpSpPr>
          <p:grpSpPr>
            <a:xfrm>
              <a:off x="7432804" y="4506461"/>
              <a:ext cx="1309796" cy="257750"/>
              <a:chOff x="-6337521" y="4362225"/>
              <a:chExt cx="1309796" cy="257750"/>
            </a:xfrm>
          </p:grpSpPr>
          <p:sp>
            <p:nvSpPr>
              <p:cNvPr id="411" name="Google Shape;411;p25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5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5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5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25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25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25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25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25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25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1" name="Google Shape;421;p25"/>
            <p:cNvGrpSpPr/>
            <p:nvPr/>
          </p:nvGrpSpPr>
          <p:grpSpPr>
            <a:xfrm>
              <a:off x="7267300" y="-374475"/>
              <a:ext cx="2456449" cy="1917411"/>
              <a:chOff x="7267300" y="-366311"/>
              <a:chExt cx="2456449" cy="1917411"/>
            </a:xfrm>
          </p:grpSpPr>
          <p:sp>
            <p:nvSpPr>
              <p:cNvPr id="422" name="Google Shape;422;p25"/>
              <p:cNvSpPr/>
              <p:nvPr/>
            </p:nvSpPr>
            <p:spPr>
              <a:xfrm rot="-5400000" flipH="1">
                <a:off x="7653475" y="-50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5"/>
              <p:cNvSpPr/>
              <p:nvPr/>
            </p:nvSpPr>
            <p:spPr>
              <a:xfrm rot="2699366" flipH="1">
                <a:off x="8648903" y="6424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5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5"/>
              <p:cNvSpPr/>
              <p:nvPr/>
            </p:nvSpPr>
            <p:spPr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Google Shape;427;p26"/>
          <p:cNvGrpSpPr/>
          <p:nvPr/>
        </p:nvGrpSpPr>
        <p:grpSpPr>
          <a:xfrm>
            <a:off x="7267300" y="387525"/>
            <a:ext cx="2456449" cy="5138686"/>
            <a:chOff x="7267300" y="387525"/>
            <a:chExt cx="2456449" cy="5138686"/>
          </a:xfrm>
        </p:grpSpPr>
        <p:grpSp>
          <p:nvGrpSpPr>
            <p:cNvPr id="428" name="Google Shape;428;p26"/>
            <p:cNvGrpSpPr/>
            <p:nvPr/>
          </p:nvGrpSpPr>
          <p:grpSpPr>
            <a:xfrm rot="10800000" flipH="1">
              <a:off x="7432804" y="387525"/>
              <a:ext cx="1309796" cy="257750"/>
              <a:chOff x="-6337521" y="4362225"/>
              <a:chExt cx="1309796" cy="257750"/>
            </a:xfrm>
          </p:grpSpPr>
          <p:sp>
            <p:nvSpPr>
              <p:cNvPr id="429" name="Google Shape;429;p26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6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26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6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26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26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6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6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6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6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9" name="Google Shape;439;p26"/>
            <p:cNvGrpSpPr/>
            <p:nvPr/>
          </p:nvGrpSpPr>
          <p:grpSpPr>
            <a:xfrm rot="10800000" flipH="1">
              <a:off x="7267300" y="3608800"/>
              <a:ext cx="2456449" cy="1917411"/>
              <a:chOff x="7267300" y="-366311"/>
              <a:chExt cx="2456449" cy="1917411"/>
            </a:xfrm>
          </p:grpSpPr>
          <p:sp>
            <p:nvSpPr>
              <p:cNvPr id="440" name="Google Shape;440;p26"/>
              <p:cNvSpPr/>
              <p:nvPr/>
            </p:nvSpPr>
            <p:spPr>
              <a:xfrm rot="-5400000" flipH="1">
                <a:off x="7653475" y="-50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6"/>
              <p:cNvSpPr/>
              <p:nvPr/>
            </p:nvSpPr>
            <p:spPr>
              <a:xfrm rot="2699366" flipH="1">
                <a:off x="8648903" y="6424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6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6"/>
              <p:cNvSpPr/>
              <p:nvPr/>
            </p:nvSpPr>
            <p:spPr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7" r:id="rId5"/>
    <p:sldLayoutId id="2147483658" r:id="rId6"/>
    <p:sldLayoutId id="2147483659" r:id="rId7"/>
    <p:sldLayoutId id="2147483662" r:id="rId8"/>
    <p:sldLayoutId id="2147483664" r:id="rId9"/>
    <p:sldLayoutId id="2147483665" r:id="rId10"/>
    <p:sldLayoutId id="2147483667" r:id="rId11"/>
    <p:sldLayoutId id="2147483668" r:id="rId12"/>
    <p:sldLayoutId id="2147483669" r:id="rId13"/>
    <p:sldLayoutId id="2147483671" r:id="rId14"/>
    <p:sldLayoutId id="214748367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0"/>
          <p:cNvSpPr txBox="1">
            <a:spLocks noGrp="1"/>
          </p:cNvSpPr>
          <p:nvPr>
            <p:ph type="ctrTitle"/>
          </p:nvPr>
        </p:nvSpPr>
        <p:spPr>
          <a:xfrm>
            <a:off x="62479" y="932804"/>
            <a:ext cx="6104700" cy="2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Segmentazione 2D di noduli polmonari in TC</a:t>
            </a:r>
            <a:b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Approccio rule-</a:t>
            </a:r>
            <a:r>
              <a:rPr lang="it-I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analisi dei limiti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chivo"/>
            </a:endParaRPr>
          </a:p>
        </p:txBody>
      </p:sp>
      <p:grpSp>
        <p:nvGrpSpPr>
          <p:cNvPr id="456" name="Google Shape;456;p30"/>
          <p:cNvGrpSpPr/>
          <p:nvPr/>
        </p:nvGrpSpPr>
        <p:grpSpPr>
          <a:xfrm>
            <a:off x="4714200" y="683716"/>
            <a:ext cx="4429800" cy="4466709"/>
            <a:chOff x="4714200" y="683716"/>
            <a:chExt cx="4429800" cy="4466709"/>
          </a:xfrm>
        </p:grpSpPr>
        <p:sp>
          <p:nvSpPr>
            <p:cNvPr id="457" name="Google Shape;457;p30"/>
            <p:cNvSpPr/>
            <p:nvPr/>
          </p:nvSpPr>
          <p:spPr>
            <a:xfrm flipH="1">
              <a:off x="4714200" y="783325"/>
              <a:ext cx="4429800" cy="43671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8" name="Google Shape;458;p30"/>
            <p:cNvSpPr/>
            <p:nvPr/>
          </p:nvSpPr>
          <p:spPr>
            <a:xfrm rot="-2700000">
              <a:off x="7675121" y="1303413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0"/>
            <p:cNvSpPr/>
            <p:nvPr/>
          </p:nvSpPr>
          <p:spPr>
            <a:xfrm rot="-2699590">
              <a:off x="4984509" y="3275203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0"/>
            <p:cNvSpPr/>
            <p:nvPr/>
          </p:nvSpPr>
          <p:spPr>
            <a:xfrm rot="-2699590">
              <a:off x="7108289" y="20926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0"/>
            <p:cNvSpPr/>
            <p:nvPr/>
          </p:nvSpPr>
          <p:spPr>
            <a:xfrm rot="-2699590">
              <a:off x="6792716" y="1243005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/>
            <p:cNvSpPr/>
            <p:nvPr/>
          </p:nvSpPr>
          <p:spPr>
            <a:xfrm rot="-2699590">
              <a:off x="5127485" y="3849460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30"/>
          <p:cNvGrpSpPr/>
          <p:nvPr/>
        </p:nvGrpSpPr>
        <p:grpSpPr>
          <a:xfrm>
            <a:off x="2669704" y="4362225"/>
            <a:ext cx="1309796" cy="257750"/>
            <a:chOff x="-6337521" y="4362225"/>
            <a:chExt cx="1309796" cy="257750"/>
          </a:xfrm>
        </p:grpSpPr>
        <p:sp>
          <p:nvSpPr>
            <p:cNvPr id="464" name="Google Shape;464;p30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0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5" name="Google Shape;475;p30"/>
          <p:cNvGrpSpPr/>
          <p:nvPr/>
        </p:nvGrpSpPr>
        <p:grpSpPr>
          <a:xfrm>
            <a:off x="4643689" y="2814981"/>
            <a:ext cx="2188531" cy="1862750"/>
            <a:chOff x="4643689" y="2814981"/>
            <a:chExt cx="2188531" cy="1862750"/>
          </a:xfrm>
        </p:grpSpPr>
        <p:sp>
          <p:nvSpPr>
            <p:cNvPr id="476" name="Google Shape;476;p30"/>
            <p:cNvSpPr/>
            <p:nvPr/>
          </p:nvSpPr>
          <p:spPr>
            <a:xfrm rot="-2700000">
              <a:off x="5941284" y="4227394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/>
            <p:cNvSpPr/>
            <p:nvPr/>
          </p:nvSpPr>
          <p:spPr>
            <a:xfrm>
              <a:off x="4643689" y="2814981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455;p30">
            <a:extLst>
              <a:ext uri="{FF2B5EF4-FFF2-40B4-BE49-F238E27FC236}">
                <a16:creationId xmlns:a16="http://schemas.microsoft.com/office/drawing/2014/main" id="{FD46C282-3B5F-8CB1-E3DA-84DFC6B12008}"/>
              </a:ext>
            </a:extLst>
          </p:cNvPr>
          <p:cNvSpPr txBox="1">
            <a:spLocks/>
          </p:cNvSpPr>
          <p:nvPr/>
        </p:nvSpPr>
        <p:spPr>
          <a:xfrm>
            <a:off x="7420130" y="4587223"/>
            <a:ext cx="1925325" cy="491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indent="0"/>
            <a:r>
              <a:rPr lang="it-IT" sz="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Docente: Prof. Andrea Guerriero </a:t>
            </a:r>
            <a:br>
              <a:rPr lang="it-IT" sz="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Studente: Angelo Mastrangelo</a:t>
            </a:r>
          </a:p>
          <a:p>
            <a:pPr marL="0" indent="0"/>
            <a:r>
              <a:rPr lang="it-IT" sz="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A.A. 2025/2026</a:t>
            </a:r>
          </a:p>
        </p:txBody>
      </p:sp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187C0D5B-F9FD-C858-81AE-659E0BCCF768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1984" r="21984"/>
          <a:stretch>
            <a:fillRect/>
          </a:stretch>
        </p:blipFill>
        <p:spPr>
          <a:prstGeom prst="ellipse">
            <a:avLst/>
          </a:prstGeom>
          <a:noFill/>
          <a:ln w="762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2"/>
          <p:cNvSpPr txBox="1">
            <a:spLocks noGrp="1"/>
          </p:cNvSpPr>
          <p:nvPr>
            <p:ph type="title"/>
          </p:nvPr>
        </p:nvSpPr>
        <p:spPr>
          <a:xfrm>
            <a:off x="482836" y="26912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Indice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6" name="Google Shape;496;p32"/>
          <p:cNvSpPr txBox="1">
            <a:spLocks noGrp="1"/>
          </p:cNvSpPr>
          <p:nvPr>
            <p:ph type="title" idx="5"/>
          </p:nvPr>
        </p:nvSpPr>
        <p:spPr>
          <a:xfrm>
            <a:off x="482836" y="1351234"/>
            <a:ext cx="707400" cy="8030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0" name="Google Shape;500;p32"/>
          <p:cNvSpPr txBox="1">
            <a:spLocks noGrp="1"/>
          </p:cNvSpPr>
          <p:nvPr>
            <p:ph type="subTitle" idx="9"/>
          </p:nvPr>
        </p:nvSpPr>
        <p:spPr>
          <a:xfrm>
            <a:off x="1299801" y="1393628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it-I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Introduzione e Contesto Clinico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Google Shape;496;p32">
            <a:extLst>
              <a:ext uri="{FF2B5EF4-FFF2-40B4-BE49-F238E27FC236}">
                <a16:creationId xmlns:a16="http://schemas.microsoft.com/office/drawing/2014/main" id="{7BFF4370-443F-9F28-73F9-EBD3B4C4F942}"/>
              </a:ext>
            </a:extLst>
          </p:cNvPr>
          <p:cNvSpPr txBox="1">
            <a:spLocks/>
          </p:cNvSpPr>
          <p:nvPr/>
        </p:nvSpPr>
        <p:spPr>
          <a:xfrm>
            <a:off x="4625345" y="1351234"/>
            <a:ext cx="707400" cy="80301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25" name="Google Shape;500;p32">
            <a:extLst>
              <a:ext uri="{FF2B5EF4-FFF2-40B4-BE49-F238E27FC236}">
                <a16:creationId xmlns:a16="http://schemas.microsoft.com/office/drawing/2014/main" id="{99BAD7E2-26A7-4858-BD76-138564C39117}"/>
              </a:ext>
            </a:extLst>
          </p:cNvPr>
          <p:cNvSpPr txBox="1">
            <a:spLocks/>
          </p:cNvSpPr>
          <p:nvPr/>
        </p:nvSpPr>
        <p:spPr>
          <a:xfrm>
            <a:off x="5442310" y="1393628"/>
            <a:ext cx="23097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e Metriche di Valutazione</a:t>
            </a:r>
          </a:p>
        </p:txBody>
      </p:sp>
      <p:sp>
        <p:nvSpPr>
          <p:cNvPr id="29" name="Google Shape;496;p32">
            <a:extLst>
              <a:ext uri="{FF2B5EF4-FFF2-40B4-BE49-F238E27FC236}">
                <a16:creationId xmlns:a16="http://schemas.microsoft.com/office/drawing/2014/main" id="{EEF3FD9E-3D29-CBA2-5108-CBED758A4676}"/>
              </a:ext>
            </a:extLst>
          </p:cNvPr>
          <p:cNvSpPr txBox="1">
            <a:spLocks/>
          </p:cNvSpPr>
          <p:nvPr/>
        </p:nvSpPr>
        <p:spPr>
          <a:xfrm>
            <a:off x="482836" y="2609035"/>
            <a:ext cx="707400" cy="80301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0" name="Google Shape;500;p32">
            <a:extLst>
              <a:ext uri="{FF2B5EF4-FFF2-40B4-BE49-F238E27FC236}">
                <a16:creationId xmlns:a16="http://schemas.microsoft.com/office/drawing/2014/main" id="{B3AA2A1C-347A-645E-6AB1-B7803CE90D49}"/>
              </a:ext>
            </a:extLst>
          </p:cNvPr>
          <p:cNvSpPr txBox="1">
            <a:spLocks/>
          </p:cNvSpPr>
          <p:nvPr/>
        </p:nvSpPr>
        <p:spPr>
          <a:xfrm>
            <a:off x="1299801" y="2543925"/>
            <a:ext cx="23097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Metodologia e Pipeline </a:t>
            </a:r>
            <a:r>
              <a:rPr lang="it-IT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Rule-</a:t>
            </a:r>
            <a:r>
              <a:rPr lang="it-IT" sz="16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</a:t>
            </a:r>
            <a:endParaRPr lang="it-IT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Google Shape;496;p32">
            <a:extLst>
              <a:ext uri="{FF2B5EF4-FFF2-40B4-BE49-F238E27FC236}">
                <a16:creationId xmlns:a16="http://schemas.microsoft.com/office/drawing/2014/main" id="{F7B6F5F9-AFF0-7005-C490-AC6EB6508005}"/>
              </a:ext>
            </a:extLst>
          </p:cNvPr>
          <p:cNvSpPr txBox="1">
            <a:spLocks/>
          </p:cNvSpPr>
          <p:nvPr/>
        </p:nvSpPr>
        <p:spPr>
          <a:xfrm>
            <a:off x="4625345" y="2613415"/>
            <a:ext cx="707400" cy="80301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2" name="Google Shape;500;p32">
            <a:extLst>
              <a:ext uri="{FF2B5EF4-FFF2-40B4-BE49-F238E27FC236}">
                <a16:creationId xmlns:a16="http://schemas.microsoft.com/office/drawing/2014/main" id="{07962117-0902-447B-668D-39D861BB4259}"/>
              </a:ext>
            </a:extLst>
          </p:cNvPr>
          <p:cNvSpPr txBox="1">
            <a:spLocks/>
          </p:cNvSpPr>
          <p:nvPr/>
        </p:nvSpPr>
        <p:spPr>
          <a:xfrm>
            <a:off x="5442310" y="2440132"/>
            <a:ext cx="23097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Risultati Sperimentali</a:t>
            </a:r>
          </a:p>
        </p:txBody>
      </p:sp>
      <p:sp>
        <p:nvSpPr>
          <p:cNvPr id="33" name="Google Shape;496;p32">
            <a:extLst>
              <a:ext uri="{FF2B5EF4-FFF2-40B4-BE49-F238E27FC236}">
                <a16:creationId xmlns:a16="http://schemas.microsoft.com/office/drawing/2014/main" id="{AF4C1131-A99B-F530-92D8-A34B10305136}"/>
              </a:ext>
            </a:extLst>
          </p:cNvPr>
          <p:cNvSpPr txBox="1">
            <a:spLocks/>
          </p:cNvSpPr>
          <p:nvPr/>
        </p:nvSpPr>
        <p:spPr>
          <a:xfrm>
            <a:off x="482836" y="3866837"/>
            <a:ext cx="707400" cy="80301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34" name="Google Shape;500;p32">
            <a:extLst>
              <a:ext uri="{FF2B5EF4-FFF2-40B4-BE49-F238E27FC236}">
                <a16:creationId xmlns:a16="http://schemas.microsoft.com/office/drawing/2014/main" id="{27CAE093-BF76-C2F2-1F4C-53655BE3B1A9}"/>
              </a:ext>
            </a:extLst>
          </p:cNvPr>
          <p:cNvSpPr txBox="1">
            <a:spLocks/>
          </p:cNvSpPr>
          <p:nvPr/>
        </p:nvSpPr>
        <p:spPr>
          <a:xfrm>
            <a:off x="1299801" y="3870912"/>
            <a:ext cx="23097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Autopsia dei Fallimenti e Limiti del Dominio 2D</a:t>
            </a:r>
          </a:p>
        </p:txBody>
      </p:sp>
      <p:sp>
        <p:nvSpPr>
          <p:cNvPr id="35" name="Google Shape;496;p32">
            <a:extLst>
              <a:ext uri="{FF2B5EF4-FFF2-40B4-BE49-F238E27FC236}">
                <a16:creationId xmlns:a16="http://schemas.microsoft.com/office/drawing/2014/main" id="{1E9BC939-8E07-C351-8521-DD8120C5050E}"/>
              </a:ext>
            </a:extLst>
          </p:cNvPr>
          <p:cNvSpPr txBox="1">
            <a:spLocks/>
          </p:cNvSpPr>
          <p:nvPr/>
        </p:nvSpPr>
        <p:spPr>
          <a:xfrm>
            <a:off x="4625345" y="3937853"/>
            <a:ext cx="707400" cy="80301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36" name="Google Shape;500;p32">
            <a:extLst>
              <a:ext uri="{FF2B5EF4-FFF2-40B4-BE49-F238E27FC236}">
                <a16:creationId xmlns:a16="http://schemas.microsoft.com/office/drawing/2014/main" id="{F137FB0D-B499-483E-9B16-ADAEEA3806C6}"/>
              </a:ext>
            </a:extLst>
          </p:cNvPr>
          <p:cNvSpPr txBox="1">
            <a:spLocks/>
          </p:cNvSpPr>
          <p:nvPr/>
        </p:nvSpPr>
        <p:spPr>
          <a:xfrm>
            <a:off x="5442310" y="3895459"/>
            <a:ext cx="23097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Conclusioni e Sviluppi Futuri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7"/>
          <p:cNvSpPr/>
          <p:nvPr/>
        </p:nvSpPr>
        <p:spPr>
          <a:xfrm>
            <a:off x="7474862" y="1916922"/>
            <a:ext cx="710100" cy="513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37"/>
          <p:cNvSpPr/>
          <p:nvPr/>
        </p:nvSpPr>
        <p:spPr>
          <a:xfrm>
            <a:off x="5058622" y="1937528"/>
            <a:ext cx="710100" cy="513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37"/>
          <p:cNvSpPr/>
          <p:nvPr/>
        </p:nvSpPr>
        <p:spPr>
          <a:xfrm>
            <a:off x="732600" y="1937528"/>
            <a:ext cx="710100" cy="513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2" name="Google Shape;572;p37"/>
          <p:cNvSpPr txBox="1">
            <a:spLocks noGrp="1"/>
          </p:cNvSpPr>
          <p:nvPr>
            <p:ph type="title"/>
          </p:nvPr>
        </p:nvSpPr>
        <p:spPr>
          <a:xfrm>
            <a:off x="2138639" y="4555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OBIETTIVI DEL PROGETTO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3" name="Google Shape;573;p37"/>
          <p:cNvSpPr txBox="1">
            <a:spLocks noGrp="1"/>
          </p:cNvSpPr>
          <p:nvPr>
            <p:ph type="subTitle" idx="1"/>
          </p:nvPr>
        </p:nvSpPr>
        <p:spPr>
          <a:xfrm>
            <a:off x="0" y="2741833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Sviluppare una pipeline di segmentazione interamente </a:t>
            </a:r>
            <a:r>
              <a:rPr lang="it-IT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rule-</a:t>
            </a:r>
            <a:r>
              <a:rPr lang="it-IT" sz="12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senza fare ricorso a reti neurali o modelli di apprendimento automatico.</a:t>
            </a:r>
            <a:endParaRPr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4" name="Google Shape;574;p37"/>
          <p:cNvSpPr txBox="1">
            <a:spLocks noGrp="1"/>
          </p:cNvSpPr>
          <p:nvPr>
            <p:ph type="subTitle" idx="2"/>
          </p:nvPr>
        </p:nvSpPr>
        <p:spPr>
          <a:xfrm>
            <a:off x="2175300" y="27748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Garantire che ogni singola classificazione sia matematicamente spiegabile attraverso l'estrazione di </a:t>
            </a:r>
            <a:r>
              <a:rPr lang="it-IT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geometriche e radiologiche.</a:t>
            </a:r>
            <a:endParaRPr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5" name="Google Shape;575;p37"/>
          <p:cNvSpPr txBox="1">
            <a:spLocks noGrp="1"/>
          </p:cNvSpPr>
          <p:nvPr>
            <p:ph type="subTitle" idx="3"/>
          </p:nvPr>
        </p:nvSpPr>
        <p:spPr>
          <a:xfrm>
            <a:off x="4350600" y="27748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Fornire una delineazione 2D deterministica e riproducibile dei noduli polmonari per quantificarne l'area e la morfologia.</a:t>
            </a:r>
            <a:endParaRPr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571;p37">
            <a:extLst>
              <a:ext uri="{FF2B5EF4-FFF2-40B4-BE49-F238E27FC236}">
                <a16:creationId xmlns:a16="http://schemas.microsoft.com/office/drawing/2014/main" id="{7E2E2656-0910-F961-BB2B-F538EDB4746C}"/>
              </a:ext>
            </a:extLst>
          </p:cNvPr>
          <p:cNvSpPr/>
          <p:nvPr/>
        </p:nvSpPr>
        <p:spPr>
          <a:xfrm>
            <a:off x="2907900" y="1941694"/>
            <a:ext cx="710100" cy="513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1909BEDE-E520-811B-A0F3-15FA54D88D72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-36661" y="2391367"/>
            <a:ext cx="2175300" cy="430800"/>
          </a:xfrm>
        </p:spPr>
        <p:txBody>
          <a:bodyPr/>
          <a:lstStyle/>
          <a:p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Trasparenza Algoritmica</a:t>
            </a:r>
          </a:p>
        </p:txBody>
      </p:sp>
      <p:sp>
        <p:nvSpPr>
          <p:cNvPr id="9" name="Subtitle 7">
            <a:extLst>
              <a:ext uri="{FF2B5EF4-FFF2-40B4-BE49-F238E27FC236}">
                <a16:creationId xmlns:a16="http://schemas.microsoft.com/office/drawing/2014/main" id="{0FDA1DC2-123A-65A8-7004-1731DDE61A5D}"/>
              </a:ext>
            </a:extLst>
          </p:cNvPr>
          <p:cNvSpPr txBox="1">
            <a:spLocks/>
          </p:cNvSpPr>
          <p:nvPr/>
        </p:nvSpPr>
        <p:spPr>
          <a:xfrm>
            <a:off x="2038516" y="2392394"/>
            <a:ext cx="2250845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Interpretabilità Clinica</a:t>
            </a:r>
          </a:p>
        </p:txBody>
      </p:sp>
      <p:sp>
        <p:nvSpPr>
          <p:cNvPr id="10" name="Subtitle 7">
            <a:extLst>
              <a:ext uri="{FF2B5EF4-FFF2-40B4-BE49-F238E27FC236}">
                <a16:creationId xmlns:a16="http://schemas.microsoft.com/office/drawing/2014/main" id="{6FD61A9F-8AF0-2783-B192-0C615DBA36F7}"/>
              </a:ext>
            </a:extLst>
          </p:cNvPr>
          <p:cNvSpPr txBox="1">
            <a:spLocks/>
          </p:cNvSpPr>
          <p:nvPr/>
        </p:nvSpPr>
        <p:spPr>
          <a:xfrm>
            <a:off x="4228319" y="2404791"/>
            <a:ext cx="2250845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Supporto Diagnostico</a:t>
            </a:r>
          </a:p>
        </p:txBody>
      </p:sp>
      <p:sp>
        <p:nvSpPr>
          <p:cNvPr id="11" name="Subtitle 7">
            <a:extLst>
              <a:ext uri="{FF2B5EF4-FFF2-40B4-BE49-F238E27FC236}">
                <a16:creationId xmlns:a16="http://schemas.microsoft.com/office/drawing/2014/main" id="{CEBD5F22-8248-2335-401C-2D5555CB446A}"/>
              </a:ext>
            </a:extLst>
          </p:cNvPr>
          <p:cNvSpPr txBox="1">
            <a:spLocks/>
          </p:cNvSpPr>
          <p:nvPr/>
        </p:nvSpPr>
        <p:spPr>
          <a:xfrm>
            <a:off x="6364538" y="2391367"/>
            <a:ext cx="2816123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Analisi Critica dei Limiti Fisici</a:t>
            </a:r>
          </a:p>
        </p:txBody>
      </p:sp>
      <p:sp>
        <p:nvSpPr>
          <p:cNvPr id="12" name="Google Shape;575;p37">
            <a:extLst>
              <a:ext uri="{FF2B5EF4-FFF2-40B4-BE49-F238E27FC236}">
                <a16:creationId xmlns:a16="http://schemas.microsoft.com/office/drawing/2014/main" id="{802E004F-8C56-B684-8C1E-04F16D41818C}"/>
              </a:ext>
            </a:extLst>
          </p:cNvPr>
          <p:cNvSpPr txBox="1">
            <a:spLocks/>
          </p:cNvSpPr>
          <p:nvPr/>
        </p:nvSpPr>
        <p:spPr>
          <a:xfrm>
            <a:off x="6742262" y="2760044"/>
            <a:ext cx="2175300" cy="113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indent="0"/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Indagare il "punto di saturazione" dell'approccio bidimensionale, misurando scientificamente i limiti posti dalle ambiguità anatomiche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Difficoltà della Segmentazione 2D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9" name="Google Shape;509;p33"/>
          <p:cNvSpPr txBox="1">
            <a:spLocks noGrp="1"/>
          </p:cNvSpPr>
          <p:nvPr>
            <p:ph type="subTitle" idx="1"/>
          </p:nvPr>
        </p:nvSpPr>
        <p:spPr>
          <a:xfrm>
            <a:off x="4405307" y="1667624"/>
            <a:ext cx="3030900" cy="29459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it-I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Noduli </a:t>
            </a:r>
            <a:r>
              <a:rPr lang="it-IT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Juxtapleurici</a:t>
            </a:r>
            <a:r>
              <a:rPr lang="it-I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Lesioni adese alla parete toracica o alla pleura, difficili da separare dal tessuto sano circostante a causa della densità simile.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it-I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Limite del Deep Learning: 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Gli approcci moderni risolvono l'ambiguità con l'apprendimento profondo, ma operano come black-box non interpretabili matematicamente.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0" name="Google Shape;510;p33"/>
          <p:cNvSpPr txBox="1">
            <a:spLocks noGrp="1"/>
          </p:cNvSpPr>
          <p:nvPr>
            <p:ph type="subTitle" idx="2"/>
          </p:nvPr>
        </p:nvSpPr>
        <p:spPr>
          <a:xfrm>
            <a:off x="470617" y="1667624"/>
            <a:ext cx="3103855" cy="28212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it-I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Variabilità Morfologica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 noduli presentano forme, dimensioni e densità estremamente eterogenee.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it-I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Falsi Positivi Strutturali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Molte strutture anatomiche sane mimano perfettamente la geometria di un tumore.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Google Shape;718;p41">
            <a:extLst>
              <a:ext uri="{FF2B5EF4-FFF2-40B4-BE49-F238E27FC236}">
                <a16:creationId xmlns:a16="http://schemas.microsoft.com/office/drawing/2014/main" id="{4CFA1332-69D5-AB0E-789F-1A92A702B0D0}"/>
              </a:ext>
            </a:extLst>
          </p:cNvPr>
          <p:cNvSpPr/>
          <p:nvPr/>
        </p:nvSpPr>
        <p:spPr>
          <a:xfrm>
            <a:off x="198033" y="1783079"/>
            <a:ext cx="272584" cy="268909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718;p41">
            <a:extLst>
              <a:ext uri="{FF2B5EF4-FFF2-40B4-BE49-F238E27FC236}">
                <a16:creationId xmlns:a16="http://schemas.microsoft.com/office/drawing/2014/main" id="{329AA198-FE73-17B8-7D63-883899574FD4}"/>
              </a:ext>
            </a:extLst>
          </p:cNvPr>
          <p:cNvSpPr/>
          <p:nvPr/>
        </p:nvSpPr>
        <p:spPr>
          <a:xfrm>
            <a:off x="198033" y="2773446"/>
            <a:ext cx="272584" cy="268909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718;p41">
            <a:extLst>
              <a:ext uri="{FF2B5EF4-FFF2-40B4-BE49-F238E27FC236}">
                <a16:creationId xmlns:a16="http://schemas.microsoft.com/office/drawing/2014/main" id="{297DF199-4F80-421F-4663-2D19D0454040}"/>
              </a:ext>
            </a:extLst>
          </p:cNvPr>
          <p:cNvSpPr/>
          <p:nvPr/>
        </p:nvSpPr>
        <p:spPr>
          <a:xfrm>
            <a:off x="4132723" y="1782580"/>
            <a:ext cx="272584" cy="268909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718;p41">
            <a:extLst>
              <a:ext uri="{FF2B5EF4-FFF2-40B4-BE49-F238E27FC236}">
                <a16:creationId xmlns:a16="http://schemas.microsoft.com/office/drawing/2014/main" id="{6A3F73D9-F197-9840-78D6-427C949B2C40}"/>
              </a:ext>
            </a:extLst>
          </p:cNvPr>
          <p:cNvSpPr/>
          <p:nvPr/>
        </p:nvSpPr>
        <p:spPr>
          <a:xfrm>
            <a:off x="4134538" y="2992950"/>
            <a:ext cx="272584" cy="268909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1"/>
          <p:cNvSpPr/>
          <p:nvPr/>
        </p:nvSpPr>
        <p:spPr>
          <a:xfrm>
            <a:off x="527528" y="2983648"/>
            <a:ext cx="710100" cy="513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41"/>
          <p:cNvSpPr/>
          <p:nvPr/>
        </p:nvSpPr>
        <p:spPr>
          <a:xfrm>
            <a:off x="527516" y="1644769"/>
            <a:ext cx="710100" cy="513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9" name="Google Shape;719;p41"/>
          <p:cNvSpPr/>
          <p:nvPr/>
        </p:nvSpPr>
        <p:spPr>
          <a:xfrm>
            <a:off x="4925428" y="2983648"/>
            <a:ext cx="710100" cy="513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41"/>
          <p:cNvSpPr/>
          <p:nvPr/>
        </p:nvSpPr>
        <p:spPr>
          <a:xfrm>
            <a:off x="4925428" y="1644769"/>
            <a:ext cx="710100" cy="513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1" name="Google Shape;721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Dataset di Riferimento: LIDC-IDRI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2" name="Google Shape;722;p41"/>
          <p:cNvSpPr txBox="1">
            <a:spLocks noGrp="1"/>
          </p:cNvSpPr>
          <p:nvPr>
            <p:ph type="subTitle" idx="1"/>
          </p:nvPr>
        </p:nvSpPr>
        <p:spPr>
          <a:xfrm>
            <a:off x="1237616" y="1875025"/>
            <a:ext cx="2655511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È stato utilizzato un sottoinsieme ufficiale del dataset LIDC-IDRI</a:t>
            </a:r>
            <a:endParaRPr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3" name="Google Shape;723;p41"/>
          <p:cNvSpPr txBox="1">
            <a:spLocks noGrp="1"/>
          </p:cNvSpPr>
          <p:nvPr>
            <p:ph type="subTitle" idx="2"/>
          </p:nvPr>
        </p:nvSpPr>
        <p:spPr>
          <a:xfrm>
            <a:off x="5711717" y="1916165"/>
            <a:ext cx="265551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Nel dataset ogni lesione è stata segmentata indipendentemente da 4 radiologi esperti.</a:t>
            </a:r>
            <a:endParaRPr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4" name="Google Shape;724;p41"/>
          <p:cNvSpPr txBox="1">
            <a:spLocks noGrp="1"/>
          </p:cNvSpPr>
          <p:nvPr>
            <p:ph type="subTitle" idx="3"/>
          </p:nvPr>
        </p:nvSpPr>
        <p:spPr>
          <a:xfrm>
            <a:off x="1241821" y="3247925"/>
            <a:ext cx="2929140" cy="10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subset comprende scansioni di Tomografia Computerizzata toracica focalizzate sulla presenza di noduli polmonari diagnosticati</a:t>
            </a:r>
            <a:r>
              <a:rPr lang="it-IT" dirty="0"/>
              <a:t>.</a:t>
            </a:r>
            <a:endParaRPr dirty="0"/>
          </a:p>
        </p:txBody>
      </p:sp>
      <p:sp>
        <p:nvSpPr>
          <p:cNvPr id="725" name="Google Shape;725;p41"/>
          <p:cNvSpPr txBox="1">
            <a:spLocks noGrp="1"/>
          </p:cNvSpPr>
          <p:nvPr>
            <p:ph type="subTitle" idx="4"/>
          </p:nvPr>
        </p:nvSpPr>
        <p:spPr>
          <a:xfrm>
            <a:off x="5711722" y="3325493"/>
            <a:ext cx="292914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L'uso di un subset ufficiale permette il confronto diretto dei risultati con altri algoritmi allo stato dell'arte.</a:t>
            </a:r>
            <a:endParaRPr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6" name="Google Shape;726;p41"/>
          <p:cNvSpPr txBox="1">
            <a:spLocks noGrp="1"/>
          </p:cNvSpPr>
          <p:nvPr>
            <p:ph type="subTitle" idx="5"/>
          </p:nvPr>
        </p:nvSpPr>
        <p:spPr>
          <a:xfrm>
            <a:off x="1259920" y="1568289"/>
            <a:ext cx="2037226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it-I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Selezione dei Dati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7" name="Google Shape;727;p41"/>
          <p:cNvSpPr txBox="1">
            <a:spLocks noGrp="1"/>
          </p:cNvSpPr>
          <p:nvPr>
            <p:ph type="subTitle" idx="6"/>
          </p:nvPr>
        </p:nvSpPr>
        <p:spPr>
          <a:xfrm>
            <a:off x="5711717" y="1610569"/>
            <a:ext cx="19782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it-I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Annotazioni Multiple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8" name="Google Shape;728;p41"/>
          <p:cNvSpPr txBox="1">
            <a:spLocks noGrp="1"/>
          </p:cNvSpPr>
          <p:nvPr>
            <p:ph type="subTitle" idx="7"/>
          </p:nvPr>
        </p:nvSpPr>
        <p:spPr>
          <a:xfrm>
            <a:off x="1259920" y="2935775"/>
            <a:ext cx="19782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it-I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Composizione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9" name="Google Shape;729;p41"/>
          <p:cNvSpPr txBox="1">
            <a:spLocks noGrp="1"/>
          </p:cNvSpPr>
          <p:nvPr>
            <p:ph type="subTitle" idx="8"/>
          </p:nvPr>
        </p:nvSpPr>
        <p:spPr>
          <a:xfrm>
            <a:off x="5711717" y="2935775"/>
            <a:ext cx="2794974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it-I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Trasparenza e Riproducibilità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">
          <a:extLst>
            <a:ext uri="{FF2B5EF4-FFF2-40B4-BE49-F238E27FC236}">
              <a16:creationId xmlns:a16="http://schemas.microsoft.com/office/drawing/2014/main" id="{E87E16A7-BCCF-9A0F-9333-7BF5EBAF8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51">
            <a:extLst>
              <a:ext uri="{FF2B5EF4-FFF2-40B4-BE49-F238E27FC236}">
                <a16:creationId xmlns:a16="http://schemas.microsoft.com/office/drawing/2014/main" id="{ED8C208F-AC67-3D42-D670-2F72A2DFF0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1846" y="522998"/>
            <a:ext cx="826096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Sfida della Ground Truth: Variabilità Inter-Observer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9D0C74-D21F-C4EA-2C63-69BFBA92D8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461"/>
          <a:stretch>
            <a:fillRect/>
          </a:stretch>
        </p:blipFill>
        <p:spPr>
          <a:xfrm>
            <a:off x="556965" y="1720776"/>
            <a:ext cx="7550727" cy="1701947"/>
          </a:xfrm>
          <a:prstGeom prst="rect">
            <a:avLst/>
          </a:prstGeom>
        </p:spPr>
      </p:pic>
      <p:sp>
        <p:nvSpPr>
          <p:cNvPr id="4" name="Google Shape;571;p37">
            <a:extLst>
              <a:ext uri="{FF2B5EF4-FFF2-40B4-BE49-F238E27FC236}">
                <a16:creationId xmlns:a16="http://schemas.microsoft.com/office/drawing/2014/main" id="{962E9470-CFE4-5FF1-E6BF-446CA1755715}"/>
              </a:ext>
            </a:extLst>
          </p:cNvPr>
          <p:cNvSpPr/>
          <p:nvPr/>
        </p:nvSpPr>
        <p:spPr>
          <a:xfrm>
            <a:off x="556965" y="3916479"/>
            <a:ext cx="193681" cy="202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978;p51">
            <a:extLst>
              <a:ext uri="{FF2B5EF4-FFF2-40B4-BE49-F238E27FC236}">
                <a16:creationId xmlns:a16="http://schemas.microsoft.com/office/drawing/2014/main" id="{24E7D095-D740-72F1-E6D0-78BA897AF7F6}"/>
              </a:ext>
            </a:extLst>
          </p:cNvPr>
          <p:cNvSpPr txBox="1">
            <a:spLocks/>
          </p:cNvSpPr>
          <p:nvPr/>
        </p:nvSpPr>
        <p:spPr>
          <a:xfrm>
            <a:off x="750646" y="3825388"/>
            <a:ext cx="8078337" cy="29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it-IT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Assenza di un bordo univoco: 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medici spesso non concordano sull'estensione esatta del nodulo</a:t>
            </a:r>
            <a:endParaRPr lang="it-IT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Google Shape;571;p37">
            <a:extLst>
              <a:ext uri="{FF2B5EF4-FFF2-40B4-BE49-F238E27FC236}">
                <a16:creationId xmlns:a16="http://schemas.microsoft.com/office/drawing/2014/main" id="{D236F5FF-1FD8-8D36-F04F-F9C7654F25BD}"/>
              </a:ext>
            </a:extLst>
          </p:cNvPr>
          <p:cNvSpPr/>
          <p:nvPr/>
        </p:nvSpPr>
        <p:spPr>
          <a:xfrm>
            <a:off x="561989" y="4309277"/>
            <a:ext cx="193681" cy="202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" name="Google Shape;571;p37">
            <a:extLst>
              <a:ext uri="{FF2B5EF4-FFF2-40B4-BE49-F238E27FC236}">
                <a16:creationId xmlns:a16="http://schemas.microsoft.com/office/drawing/2014/main" id="{989236F1-7156-8DFC-AC24-819E41ADF4C5}"/>
              </a:ext>
            </a:extLst>
          </p:cNvPr>
          <p:cNvSpPr/>
          <p:nvPr/>
        </p:nvSpPr>
        <p:spPr>
          <a:xfrm>
            <a:off x="556965" y="4702075"/>
            <a:ext cx="193681" cy="202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" name="Google Shape;978;p51">
            <a:extLst>
              <a:ext uri="{FF2B5EF4-FFF2-40B4-BE49-F238E27FC236}">
                <a16:creationId xmlns:a16="http://schemas.microsoft.com/office/drawing/2014/main" id="{A79F23D3-0B30-BCB5-D38E-5F86DDED7C3F}"/>
              </a:ext>
            </a:extLst>
          </p:cNvPr>
          <p:cNvSpPr txBox="1">
            <a:spLocks/>
          </p:cNvSpPr>
          <p:nvPr/>
        </p:nvSpPr>
        <p:spPr>
          <a:xfrm>
            <a:off x="750645" y="4228053"/>
            <a:ext cx="8078337" cy="29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it-IT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Differenze morfologiche: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 annotazioni variano per area, forma e inclusione di vasi adiacenti</a:t>
            </a:r>
            <a:endParaRPr lang="it-IT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Google Shape;978;p51">
            <a:extLst>
              <a:ext uri="{FF2B5EF4-FFF2-40B4-BE49-F238E27FC236}">
                <a16:creationId xmlns:a16="http://schemas.microsoft.com/office/drawing/2014/main" id="{01DC0192-7E6E-B8D4-CD0A-158B929E3F04}"/>
              </a:ext>
            </a:extLst>
          </p:cNvPr>
          <p:cNvSpPr txBox="1">
            <a:spLocks/>
          </p:cNvSpPr>
          <p:nvPr/>
        </p:nvSpPr>
        <p:spPr>
          <a:xfrm>
            <a:off x="750645" y="4613135"/>
            <a:ext cx="8078337" cy="29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it-IT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Impatto sulla valutazione: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Definire una "verità assoluta" è impossibile</a:t>
            </a:r>
            <a:endParaRPr lang="it-IT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923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>
          <a:extLst>
            <a:ext uri="{FF2B5EF4-FFF2-40B4-BE49-F238E27FC236}">
              <a16:creationId xmlns:a16="http://schemas.microsoft.com/office/drawing/2014/main" id="{482AB622-FA46-3301-4D86-6CDC8630B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1">
            <a:extLst>
              <a:ext uri="{FF2B5EF4-FFF2-40B4-BE49-F238E27FC236}">
                <a16:creationId xmlns:a16="http://schemas.microsoft.com/office/drawing/2014/main" id="{6E723274-F01F-9E1D-EEF2-E39DCF573A39}"/>
              </a:ext>
            </a:extLst>
          </p:cNvPr>
          <p:cNvSpPr/>
          <p:nvPr/>
        </p:nvSpPr>
        <p:spPr>
          <a:xfrm>
            <a:off x="196062" y="1338817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1" name="Google Shape;721;p41">
            <a:extLst>
              <a:ext uri="{FF2B5EF4-FFF2-40B4-BE49-F238E27FC236}">
                <a16:creationId xmlns:a16="http://schemas.microsoft.com/office/drawing/2014/main" id="{F1EFB72C-3DE6-42B3-C7BB-0304BAAD4A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Metrica di Valutazione: Best-Match Dice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6" name="Google Shape;726;p41">
            <a:extLst>
              <a:ext uri="{FF2B5EF4-FFF2-40B4-BE49-F238E27FC236}">
                <a16:creationId xmlns:a16="http://schemas.microsoft.com/office/drawing/2014/main" id="{EE9C3444-129F-D85E-1FE1-3264EF012889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31207" y="1366404"/>
            <a:ext cx="7279508" cy="54976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Obiettivo: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Misurare l'accuratezza spaziale della segmentazione </a:t>
            </a:r>
          </a:p>
          <a:p>
            <a:pPr marL="0" indent="0"/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automatica rispetto ai medici </a:t>
            </a:r>
            <a:endParaRPr sz="14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Google Shape;718;p41">
            <a:extLst>
              <a:ext uri="{FF2B5EF4-FFF2-40B4-BE49-F238E27FC236}">
                <a16:creationId xmlns:a16="http://schemas.microsoft.com/office/drawing/2014/main" id="{E735C605-8E03-66EE-1357-63EC4762EA32}"/>
              </a:ext>
            </a:extLst>
          </p:cNvPr>
          <p:cNvSpPr/>
          <p:nvPr/>
        </p:nvSpPr>
        <p:spPr>
          <a:xfrm>
            <a:off x="196062" y="2193334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718;p41">
            <a:extLst>
              <a:ext uri="{FF2B5EF4-FFF2-40B4-BE49-F238E27FC236}">
                <a16:creationId xmlns:a16="http://schemas.microsoft.com/office/drawing/2014/main" id="{75166D31-48DF-D3C7-5C0A-FF0D5661D7B4}"/>
              </a:ext>
            </a:extLst>
          </p:cNvPr>
          <p:cNvSpPr/>
          <p:nvPr/>
        </p:nvSpPr>
        <p:spPr>
          <a:xfrm>
            <a:off x="196062" y="3047851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718;p41">
            <a:extLst>
              <a:ext uri="{FF2B5EF4-FFF2-40B4-BE49-F238E27FC236}">
                <a16:creationId xmlns:a16="http://schemas.microsoft.com/office/drawing/2014/main" id="{166DA9D8-AFF0-8533-E188-6B0980A666D6}"/>
              </a:ext>
            </a:extLst>
          </p:cNvPr>
          <p:cNvSpPr/>
          <p:nvPr/>
        </p:nvSpPr>
        <p:spPr>
          <a:xfrm>
            <a:off x="196062" y="3902368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" name="Google Shape;726;p41">
            <a:extLst>
              <a:ext uri="{FF2B5EF4-FFF2-40B4-BE49-F238E27FC236}">
                <a16:creationId xmlns:a16="http://schemas.microsoft.com/office/drawing/2014/main" id="{C332895B-D891-3E5E-71CD-BCE13199427E}"/>
              </a:ext>
            </a:extLst>
          </p:cNvPr>
          <p:cNvSpPr txBox="1">
            <a:spLocks/>
          </p:cNvSpPr>
          <p:nvPr/>
        </p:nvSpPr>
        <p:spPr>
          <a:xfrm>
            <a:off x="527528" y="2159005"/>
            <a:ext cx="5665454" cy="54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Logica del Miglior Accordo: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la variabilità descritta, la maschera prodotta dall'algoritmo viene confrontata con tutti e 4 i radiologi</a:t>
            </a:r>
          </a:p>
        </p:txBody>
      </p:sp>
      <p:sp>
        <p:nvSpPr>
          <p:cNvPr id="20" name="Google Shape;726;p41">
            <a:extLst>
              <a:ext uri="{FF2B5EF4-FFF2-40B4-BE49-F238E27FC236}">
                <a16:creationId xmlns:a16="http://schemas.microsoft.com/office/drawing/2014/main" id="{6A12664E-AAF7-40B2-5C6B-21BFD04D52DB}"/>
              </a:ext>
            </a:extLst>
          </p:cNvPr>
          <p:cNvSpPr txBox="1">
            <a:spLocks/>
          </p:cNvSpPr>
          <p:nvPr/>
        </p:nvSpPr>
        <p:spPr>
          <a:xfrm>
            <a:off x="527528" y="2985935"/>
            <a:ext cx="5471490" cy="54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Punteggio Finale: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 seleziona il valore di Dice Score più alto tra i quattro confronti</a:t>
            </a:r>
          </a:p>
        </p:txBody>
      </p:sp>
      <p:sp>
        <p:nvSpPr>
          <p:cNvPr id="21" name="Google Shape;726;p41">
            <a:extLst>
              <a:ext uri="{FF2B5EF4-FFF2-40B4-BE49-F238E27FC236}">
                <a16:creationId xmlns:a16="http://schemas.microsoft.com/office/drawing/2014/main" id="{D7F723CE-3453-A99A-086F-F55975CC1BB8}"/>
              </a:ext>
            </a:extLst>
          </p:cNvPr>
          <p:cNvSpPr txBox="1">
            <a:spLocks/>
          </p:cNvSpPr>
          <p:nvPr/>
        </p:nvSpPr>
        <p:spPr>
          <a:xfrm>
            <a:off x="527528" y="3902368"/>
            <a:ext cx="5291381" cy="54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Significato: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Questa scelta premia la capacità dell'algoritmo di emulare almeno uno degli esperti umani, rispettando la soggettività clinica.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608FDB-B1C4-4596-F332-BA9670E76CC1}"/>
                  </a:ext>
                </a:extLst>
              </p:cNvPr>
              <p:cNvSpPr txBox="1"/>
              <p:nvPr/>
            </p:nvSpPr>
            <p:spPr>
              <a:xfrm>
                <a:off x="5722363" y="2264844"/>
                <a:ext cx="2985655" cy="8908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chivo"/>
                        </a:rPr>
                        <m:t>𝑫𝒊𝒄𝒆</m:t>
                      </m:r>
                      <m:r>
                        <a:rPr lang="it-IT" sz="28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chivo"/>
                        </a:rPr>
                        <m:t>= </m:t>
                      </m:r>
                      <m:f>
                        <m:fPr>
                          <m:ctrlPr>
                            <a:rPr lang="it-IT" sz="28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Archivo"/>
                            </a:rPr>
                          </m:ctrlPr>
                        </m:fPr>
                        <m:num>
                          <m:r>
                            <a:rPr lang="it-IT" sz="28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Archivo"/>
                            </a:rPr>
                            <m:t>𝟐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it-IT" sz="2800" i="1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  <a:sym typeface="Archivo"/>
                                </a:rPr>
                              </m:ctrlPr>
                            </m:dPr>
                            <m:e>
                              <m:r>
                                <a:rPr lang="it-IT" sz="2800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  <a:sym typeface="Archivo"/>
                                </a:rPr>
                                <m:t>𝑨</m:t>
                              </m:r>
                              <m:r>
                                <a:rPr lang="it-IT" sz="2800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  <a:sym typeface="Archivo"/>
                                </a:rPr>
                                <m:t>∩</m:t>
                              </m:r>
                              <m:r>
                                <a:rPr lang="it-IT" sz="2800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  <a:sym typeface="Archivo"/>
                                </a:rPr>
                                <m:t>𝑩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it-IT" sz="2800" i="1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  <a:sym typeface="Archivo"/>
                                </a:rPr>
                              </m:ctrlPr>
                            </m:dPr>
                            <m:e>
                              <m:r>
                                <a:rPr lang="it-IT" sz="2800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  <a:sym typeface="Archivo"/>
                                </a:rPr>
                                <m:t>𝑨</m:t>
                              </m:r>
                            </m:e>
                          </m:d>
                          <m:r>
                            <a:rPr lang="it-IT" sz="28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Archivo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it-IT" sz="2800" i="1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  <a:sym typeface="Archivo"/>
                                </a:rPr>
                              </m:ctrlPr>
                            </m:dPr>
                            <m:e>
                              <m:r>
                                <a:rPr lang="it-IT" sz="2800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  <a:sym typeface="Archivo"/>
                                </a:rPr>
                                <m:t>𝑩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it-IT" sz="2800" dirty="0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chivo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608FDB-B1C4-4596-F332-BA9670E76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2363" y="2264844"/>
                <a:ext cx="2985655" cy="8908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3500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53"/>
          <p:cNvSpPr txBox="1">
            <a:spLocks noGrp="1"/>
          </p:cNvSpPr>
          <p:nvPr>
            <p:ph type="title"/>
          </p:nvPr>
        </p:nvSpPr>
        <p:spPr>
          <a:xfrm>
            <a:off x="720000" y="3649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Architettura della Pipeline di Segmentazione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3" name="Google Shape;1013;p53"/>
          <p:cNvSpPr txBox="1"/>
          <p:nvPr/>
        </p:nvSpPr>
        <p:spPr>
          <a:xfrm>
            <a:off x="2287118" y="1326002"/>
            <a:ext cx="9312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01</a:t>
            </a:r>
            <a:endParaRPr sz="30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014" name="Google Shape;1014;p53"/>
          <p:cNvSpPr txBox="1"/>
          <p:nvPr/>
        </p:nvSpPr>
        <p:spPr>
          <a:xfrm>
            <a:off x="4969718" y="1326002"/>
            <a:ext cx="9312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02</a:t>
            </a:r>
            <a:endParaRPr sz="30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015" name="Google Shape;1015;p53"/>
          <p:cNvSpPr txBox="1"/>
          <p:nvPr/>
        </p:nvSpPr>
        <p:spPr>
          <a:xfrm>
            <a:off x="945818" y="3157152"/>
            <a:ext cx="9312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03</a:t>
            </a:r>
            <a:endParaRPr sz="30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016" name="Google Shape;1016;p53"/>
          <p:cNvSpPr txBox="1"/>
          <p:nvPr/>
        </p:nvSpPr>
        <p:spPr>
          <a:xfrm>
            <a:off x="3628393" y="3157152"/>
            <a:ext cx="9312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04</a:t>
            </a:r>
            <a:endParaRPr sz="30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017" name="Google Shape;1017;p53"/>
          <p:cNvSpPr txBox="1"/>
          <p:nvPr/>
        </p:nvSpPr>
        <p:spPr>
          <a:xfrm>
            <a:off x="6311018" y="3157152"/>
            <a:ext cx="9312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05</a:t>
            </a:r>
            <a:endParaRPr sz="30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cxnSp>
        <p:nvCxnSpPr>
          <p:cNvPr id="1018" name="Google Shape;1018;p53"/>
          <p:cNvCxnSpPr>
            <a:stCxn id="1019" idx="2"/>
            <a:endCxn id="1015" idx="0"/>
          </p:cNvCxnSpPr>
          <p:nvPr/>
        </p:nvCxnSpPr>
        <p:spPr>
          <a:xfrm rot="5400000">
            <a:off x="3216518" y="938302"/>
            <a:ext cx="413700" cy="40239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triangle" w="med" len="med"/>
          </a:ln>
        </p:spPr>
      </p:cxnSp>
      <p:cxnSp>
        <p:nvCxnSpPr>
          <p:cNvPr id="1020" name="Google Shape;1020;p53"/>
          <p:cNvCxnSpPr>
            <a:stCxn id="1015" idx="3"/>
            <a:endCxn id="1016" idx="1"/>
          </p:cNvCxnSpPr>
          <p:nvPr/>
        </p:nvCxnSpPr>
        <p:spPr>
          <a:xfrm>
            <a:off x="1877018" y="3443502"/>
            <a:ext cx="1751400" cy="6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triangle" w="med" len="med"/>
          </a:ln>
        </p:spPr>
      </p:cxnSp>
      <p:cxnSp>
        <p:nvCxnSpPr>
          <p:cNvPr id="1021" name="Google Shape;1021;p53"/>
          <p:cNvCxnSpPr>
            <a:stCxn id="1016" idx="3"/>
            <a:endCxn id="1017" idx="1"/>
          </p:cNvCxnSpPr>
          <p:nvPr/>
        </p:nvCxnSpPr>
        <p:spPr>
          <a:xfrm>
            <a:off x="4559593" y="3443502"/>
            <a:ext cx="1751400" cy="6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triangle" w="med" len="med"/>
          </a:ln>
        </p:spPr>
      </p:cxnSp>
      <p:cxnSp>
        <p:nvCxnSpPr>
          <p:cNvPr id="1022" name="Google Shape;1022;p53"/>
          <p:cNvCxnSpPr>
            <a:stCxn id="1013" idx="3"/>
            <a:endCxn id="1014" idx="1"/>
          </p:cNvCxnSpPr>
          <p:nvPr/>
        </p:nvCxnSpPr>
        <p:spPr>
          <a:xfrm>
            <a:off x="3218318" y="1612352"/>
            <a:ext cx="1751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triangle" w="med" len="med"/>
          </a:ln>
        </p:spPr>
      </p:cxnSp>
      <p:sp>
        <p:nvSpPr>
          <p:cNvPr id="1023" name="Google Shape;1023;p53"/>
          <p:cNvSpPr/>
          <p:nvPr/>
        </p:nvSpPr>
        <p:spPr>
          <a:xfrm>
            <a:off x="1583318" y="1995802"/>
            <a:ext cx="2338800" cy="747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nrope"/>
              </a:rPr>
              <a:t>PRE-PROCESSING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9" name="Google Shape;1019;p53"/>
          <p:cNvSpPr/>
          <p:nvPr/>
        </p:nvSpPr>
        <p:spPr>
          <a:xfrm>
            <a:off x="4265918" y="1995802"/>
            <a:ext cx="2338800" cy="747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nrope"/>
              </a:rPr>
              <a:t>SEGMENTAZIONE POLMONARE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4" name="Google Shape;1024;p53"/>
          <p:cNvSpPr/>
          <p:nvPr/>
        </p:nvSpPr>
        <p:spPr>
          <a:xfrm>
            <a:off x="242018" y="3827777"/>
            <a:ext cx="2338800" cy="747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it-IT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nrope"/>
              </a:rPr>
              <a:t>ESTRAZIONE CANDIDATI</a:t>
            </a:r>
            <a:endParaRPr lang="it-IT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" name="Google Shape;1025;p53"/>
          <p:cNvSpPr/>
          <p:nvPr/>
        </p:nvSpPr>
        <p:spPr>
          <a:xfrm>
            <a:off x="2924618" y="3827777"/>
            <a:ext cx="2338800" cy="747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nrope"/>
              </a:rPr>
              <a:t>SCORING E FILTRI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6" name="Google Shape;1026;p53"/>
          <p:cNvSpPr/>
          <p:nvPr/>
        </p:nvSpPr>
        <p:spPr>
          <a:xfrm>
            <a:off x="5607218" y="3827777"/>
            <a:ext cx="2338800" cy="747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nrope"/>
              </a:rPr>
              <a:t>PREDIZIONE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0" name="Google Shape;830;p46"/>
          <p:cNvGrpSpPr/>
          <p:nvPr/>
        </p:nvGrpSpPr>
        <p:grpSpPr>
          <a:xfrm>
            <a:off x="4643689" y="-2084"/>
            <a:ext cx="4500311" cy="4367100"/>
            <a:chOff x="4643689" y="-2084"/>
            <a:chExt cx="4500311" cy="4367100"/>
          </a:xfrm>
        </p:grpSpPr>
        <p:sp>
          <p:nvSpPr>
            <p:cNvPr id="831" name="Google Shape;831;p46"/>
            <p:cNvSpPr/>
            <p:nvPr/>
          </p:nvSpPr>
          <p:spPr>
            <a:xfrm rot="10800000">
              <a:off x="4714200" y="-2084"/>
              <a:ext cx="4429800" cy="43671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6"/>
            <p:cNvSpPr/>
            <p:nvPr/>
          </p:nvSpPr>
          <p:spPr>
            <a:xfrm rot="-8100000" flipH="1">
              <a:off x="7675121" y="3729952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6"/>
            <p:cNvSpPr/>
            <p:nvPr/>
          </p:nvSpPr>
          <p:spPr>
            <a:xfrm rot="-8100410" flipH="1">
              <a:off x="4984509" y="1546455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6"/>
            <p:cNvSpPr/>
            <p:nvPr/>
          </p:nvSpPr>
          <p:spPr>
            <a:xfrm rot="-8100410" flipH="1">
              <a:off x="7200339" y="2135756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6"/>
            <p:cNvSpPr/>
            <p:nvPr/>
          </p:nvSpPr>
          <p:spPr>
            <a:xfrm rot="-8100410" flipH="1">
              <a:off x="7200341" y="3051389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6"/>
            <p:cNvSpPr/>
            <p:nvPr/>
          </p:nvSpPr>
          <p:spPr>
            <a:xfrm rot="-8100410" flipH="1">
              <a:off x="5127485" y="821159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6"/>
            <p:cNvSpPr/>
            <p:nvPr/>
          </p:nvSpPr>
          <p:spPr>
            <a:xfrm rot="10800000" flipH="1">
              <a:off x="4643689" y="736759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6"/>
            <p:cNvSpPr/>
            <p:nvPr/>
          </p:nvSpPr>
          <p:spPr>
            <a:xfrm rot="-8100000" flipH="1">
              <a:off x="6246084" y="805971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9" name="Google Shape;839;p46"/>
          <p:cNvSpPr txBox="1">
            <a:spLocks noGrp="1"/>
          </p:cNvSpPr>
          <p:nvPr>
            <p:ph type="title"/>
          </p:nvPr>
        </p:nvSpPr>
        <p:spPr>
          <a:xfrm>
            <a:off x="585020" y="631048"/>
            <a:ext cx="2861400" cy="46482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PRE-PROCESSING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C1EDD3CA-F9ED-8210-BC74-F1212B90846D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9556" r="9556"/>
          <a:stretch>
            <a:fillRect/>
          </a:stretch>
        </p:blipFill>
        <p:spPr>
          <a:prstGeom prst="ellipse">
            <a:avLst/>
          </a:prstGeom>
          <a:noFill/>
          <a:ln w="381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" name="Google Shape;718;p41">
            <a:extLst>
              <a:ext uri="{FF2B5EF4-FFF2-40B4-BE49-F238E27FC236}">
                <a16:creationId xmlns:a16="http://schemas.microsoft.com/office/drawing/2014/main" id="{A91FEAA5-1072-1AE9-4C0B-CCF962D1199B}"/>
              </a:ext>
            </a:extLst>
          </p:cNvPr>
          <p:cNvSpPr/>
          <p:nvPr/>
        </p:nvSpPr>
        <p:spPr>
          <a:xfrm>
            <a:off x="205337" y="1575911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" name="Google Shape;718;p41">
            <a:extLst>
              <a:ext uri="{FF2B5EF4-FFF2-40B4-BE49-F238E27FC236}">
                <a16:creationId xmlns:a16="http://schemas.microsoft.com/office/drawing/2014/main" id="{3C1537DC-C571-55F4-DE00-22E61F5E6EEF}"/>
              </a:ext>
            </a:extLst>
          </p:cNvPr>
          <p:cNvSpPr/>
          <p:nvPr/>
        </p:nvSpPr>
        <p:spPr>
          <a:xfrm>
            <a:off x="203760" y="2678820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718;p41">
            <a:extLst>
              <a:ext uri="{FF2B5EF4-FFF2-40B4-BE49-F238E27FC236}">
                <a16:creationId xmlns:a16="http://schemas.microsoft.com/office/drawing/2014/main" id="{7FD25AC2-57E0-4DF7-4A7D-C898CBAE32A6}"/>
              </a:ext>
            </a:extLst>
          </p:cNvPr>
          <p:cNvSpPr/>
          <p:nvPr/>
        </p:nvSpPr>
        <p:spPr>
          <a:xfrm>
            <a:off x="203760" y="3787440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" name="Google Shape;726;p41">
            <a:extLst>
              <a:ext uri="{FF2B5EF4-FFF2-40B4-BE49-F238E27FC236}">
                <a16:creationId xmlns:a16="http://schemas.microsoft.com/office/drawing/2014/main" id="{B7D64CAB-42CA-347C-9319-38A84B13E386}"/>
              </a:ext>
            </a:extLst>
          </p:cNvPr>
          <p:cNvSpPr txBox="1">
            <a:spLocks/>
          </p:cNvSpPr>
          <p:nvPr/>
        </p:nvSpPr>
        <p:spPr>
          <a:xfrm>
            <a:off x="527528" y="3743942"/>
            <a:ext cx="5291381" cy="54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Normalizzazione: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Rimappatura delle intensità nell'intervallo [0, 1] per garantire stabilità numerica nei calcoli successivi.</a:t>
            </a:r>
          </a:p>
        </p:txBody>
      </p:sp>
      <p:sp>
        <p:nvSpPr>
          <p:cNvPr id="17" name="Google Shape;726;p41">
            <a:extLst>
              <a:ext uri="{FF2B5EF4-FFF2-40B4-BE49-F238E27FC236}">
                <a16:creationId xmlns:a16="http://schemas.microsoft.com/office/drawing/2014/main" id="{288F8762-B917-50B8-950C-E68AD5650565}"/>
              </a:ext>
            </a:extLst>
          </p:cNvPr>
          <p:cNvSpPr txBox="1">
            <a:spLocks/>
          </p:cNvSpPr>
          <p:nvPr/>
        </p:nvSpPr>
        <p:spPr>
          <a:xfrm>
            <a:off x="535226" y="1403004"/>
            <a:ext cx="3982605" cy="73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Conversione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DICOM → Hounsfield Units (HU)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Mappatura dei pixel sui valori fisici di </a:t>
            </a:r>
            <a:r>
              <a:rPr lang="it-IT" sz="1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radiodensità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8" name="Google Shape;726;p41">
            <a:extLst>
              <a:ext uri="{FF2B5EF4-FFF2-40B4-BE49-F238E27FC236}">
                <a16:creationId xmlns:a16="http://schemas.microsoft.com/office/drawing/2014/main" id="{FCDE3D0C-9AAD-5A11-F1B6-5EE498745861}"/>
              </a:ext>
            </a:extLst>
          </p:cNvPr>
          <p:cNvSpPr txBox="1">
            <a:spLocks/>
          </p:cNvSpPr>
          <p:nvPr/>
        </p:nvSpPr>
        <p:spPr>
          <a:xfrm>
            <a:off x="527527" y="2640493"/>
            <a:ext cx="4561199" cy="54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Windowing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Polmonare: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Applicazione di una finestra specifica per esaltare il contrasto delle strutture toraciche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Google Shape;529;p35"/>
          <p:cNvGrpSpPr/>
          <p:nvPr/>
        </p:nvGrpSpPr>
        <p:grpSpPr>
          <a:xfrm>
            <a:off x="3979500" y="7000"/>
            <a:ext cx="5164500" cy="5143500"/>
            <a:chOff x="3979500" y="7000"/>
            <a:chExt cx="5164500" cy="5143500"/>
          </a:xfrm>
        </p:grpSpPr>
        <p:sp>
          <p:nvSpPr>
            <p:cNvPr id="530" name="Google Shape;530;p35"/>
            <p:cNvSpPr/>
            <p:nvPr/>
          </p:nvSpPr>
          <p:spPr>
            <a:xfrm flipH="1">
              <a:off x="3979500" y="7000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5"/>
            <p:cNvSpPr/>
            <p:nvPr/>
          </p:nvSpPr>
          <p:spPr>
            <a:xfrm rot="-2699590">
              <a:off x="4521184" y="3647078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5"/>
            <p:cNvSpPr/>
            <p:nvPr/>
          </p:nvSpPr>
          <p:spPr>
            <a:xfrm rot="-2699590">
              <a:off x="7184489" y="22450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5"/>
            <p:cNvSpPr/>
            <p:nvPr/>
          </p:nvSpPr>
          <p:spPr>
            <a:xfrm rot="-2699590">
              <a:off x="6716516" y="1166805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5"/>
            <p:cNvSpPr/>
            <p:nvPr/>
          </p:nvSpPr>
          <p:spPr>
            <a:xfrm rot="-2699590">
              <a:off x="5940285" y="3571560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5"/>
            <p:cNvSpPr/>
            <p:nvPr/>
          </p:nvSpPr>
          <p:spPr>
            <a:xfrm>
              <a:off x="6777914" y="2891181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6" name="Google Shape;536;p35"/>
          <p:cNvSpPr txBox="1">
            <a:spLocks noGrp="1"/>
          </p:cNvSpPr>
          <p:nvPr>
            <p:ph type="title"/>
          </p:nvPr>
        </p:nvSpPr>
        <p:spPr>
          <a:xfrm>
            <a:off x="25576" y="949501"/>
            <a:ext cx="6073660" cy="5334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Isolamento del Parenchima Polmonare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chivo"/>
            </a:endParaRPr>
          </a:p>
        </p:txBody>
      </p:sp>
      <p:grpSp>
        <p:nvGrpSpPr>
          <p:cNvPr id="540" name="Google Shape;540;p35"/>
          <p:cNvGrpSpPr/>
          <p:nvPr/>
        </p:nvGrpSpPr>
        <p:grpSpPr>
          <a:xfrm>
            <a:off x="5405445" y="1044251"/>
            <a:ext cx="3160612" cy="3291131"/>
            <a:chOff x="5405445" y="1044251"/>
            <a:chExt cx="3160612" cy="3291131"/>
          </a:xfrm>
        </p:grpSpPr>
        <p:sp>
          <p:nvSpPr>
            <p:cNvPr id="541" name="Google Shape;541;p35"/>
            <p:cNvSpPr/>
            <p:nvPr/>
          </p:nvSpPr>
          <p:spPr>
            <a:xfrm rot="-2700000">
              <a:off x="7675121" y="1379613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5"/>
            <p:cNvSpPr/>
            <p:nvPr/>
          </p:nvSpPr>
          <p:spPr>
            <a:xfrm rot="-2700000">
              <a:off x="5300209" y="3885044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3" name="Picture Placeholder 32">
            <a:extLst>
              <a:ext uri="{FF2B5EF4-FFF2-40B4-BE49-F238E27FC236}">
                <a16:creationId xmlns:a16="http://schemas.microsoft.com/office/drawing/2014/main" id="{9DD95D57-F574-7F58-454D-B9959223087B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3"/>
          <a:srcRect l="8200" r="8200"/>
          <a:stretch>
            <a:fillRect/>
          </a:stretch>
        </p:blipFill>
        <p:spPr>
          <a:prstGeom prst="ellipse">
            <a:avLst/>
          </a:prstGeom>
          <a:noFill/>
          <a:ln w="381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6" name="Google Shape;718;p41">
            <a:extLst>
              <a:ext uri="{FF2B5EF4-FFF2-40B4-BE49-F238E27FC236}">
                <a16:creationId xmlns:a16="http://schemas.microsoft.com/office/drawing/2014/main" id="{26CD75D0-B04A-D4BF-0B2D-7F514F151AFB}"/>
              </a:ext>
            </a:extLst>
          </p:cNvPr>
          <p:cNvSpPr/>
          <p:nvPr/>
        </p:nvSpPr>
        <p:spPr>
          <a:xfrm>
            <a:off x="198457" y="1894239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718;p41">
            <a:extLst>
              <a:ext uri="{FF2B5EF4-FFF2-40B4-BE49-F238E27FC236}">
                <a16:creationId xmlns:a16="http://schemas.microsoft.com/office/drawing/2014/main" id="{1E6B7EBE-C965-D309-CDA5-C821A586C70F}"/>
              </a:ext>
            </a:extLst>
          </p:cNvPr>
          <p:cNvSpPr/>
          <p:nvPr/>
        </p:nvSpPr>
        <p:spPr>
          <a:xfrm>
            <a:off x="196880" y="2638495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" name="Google Shape;718;p41">
            <a:extLst>
              <a:ext uri="{FF2B5EF4-FFF2-40B4-BE49-F238E27FC236}">
                <a16:creationId xmlns:a16="http://schemas.microsoft.com/office/drawing/2014/main" id="{10829279-1047-8801-786C-C684B04CDA8E}"/>
              </a:ext>
            </a:extLst>
          </p:cNvPr>
          <p:cNvSpPr/>
          <p:nvPr/>
        </p:nvSpPr>
        <p:spPr>
          <a:xfrm>
            <a:off x="196880" y="3371083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" name="Google Shape;726;p41">
            <a:extLst>
              <a:ext uri="{FF2B5EF4-FFF2-40B4-BE49-F238E27FC236}">
                <a16:creationId xmlns:a16="http://schemas.microsoft.com/office/drawing/2014/main" id="{652405D0-E03E-36FC-03E0-4E700397763B}"/>
              </a:ext>
            </a:extLst>
          </p:cNvPr>
          <p:cNvSpPr txBox="1">
            <a:spLocks/>
          </p:cNvSpPr>
          <p:nvPr/>
        </p:nvSpPr>
        <p:spPr>
          <a:xfrm>
            <a:off x="513602" y="3347205"/>
            <a:ext cx="5122947" cy="54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Riempimento: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Inclusione di vasi interni e noduli solidi densi che verrebbero altrimenti esclusi dalla maschera dell'aria.</a:t>
            </a:r>
          </a:p>
        </p:txBody>
      </p:sp>
      <p:sp>
        <p:nvSpPr>
          <p:cNvPr id="40" name="Google Shape;726;p41">
            <a:extLst>
              <a:ext uri="{FF2B5EF4-FFF2-40B4-BE49-F238E27FC236}">
                <a16:creationId xmlns:a16="http://schemas.microsoft.com/office/drawing/2014/main" id="{0146D002-B94D-82ED-7C43-ADA9C73E8017}"/>
              </a:ext>
            </a:extLst>
          </p:cNvPr>
          <p:cNvSpPr txBox="1">
            <a:spLocks/>
          </p:cNvSpPr>
          <p:nvPr/>
        </p:nvSpPr>
        <p:spPr>
          <a:xfrm>
            <a:off x="528346" y="1909904"/>
            <a:ext cx="4284332" cy="361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Thresholding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Estrazione dell'aria interna ai polmoni.</a:t>
            </a:r>
          </a:p>
        </p:txBody>
      </p:sp>
      <p:sp>
        <p:nvSpPr>
          <p:cNvPr id="41" name="Google Shape;726;p41">
            <a:extLst>
              <a:ext uri="{FF2B5EF4-FFF2-40B4-BE49-F238E27FC236}">
                <a16:creationId xmlns:a16="http://schemas.microsoft.com/office/drawing/2014/main" id="{53EE8AF4-BF42-5F28-BA46-65FA6C235B17}"/>
              </a:ext>
            </a:extLst>
          </p:cNvPr>
          <p:cNvSpPr txBox="1">
            <a:spLocks/>
          </p:cNvSpPr>
          <p:nvPr/>
        </p:nvSpPr>
        <p:spPr>
          <a:xfrm>
            <a:off x="520647" y="2600168"/>
            <a:ext cx="4561199" cy="54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Analisi delle Componenti Connesse: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Selezione delle due regioni volumetriche maggiori.</a:t>
            </a:r>
          </a:p>
        </p:txBody>
      </p:sp>
      <p:sp>
        <p:nvSpPr>
          <p:cNvPr id="44" name="Google Shape;718;p41">
            <a:extLst>
              <a:ext uri="{FF2B5EF4-FFF2-40B4-BE49-F238E27FC236}">
                <a16:creationId xmlns:a16="http://schemas.microsoft.com/office/drawing/2014/main" id="{B7D28122-B14F-4866-0CBF-6635F9744345}"/>
              </a:ext>
            </a:extLst>
          </p:cNvPr>
          <p:cNvSpPr/>
          <p:nvPr/>
        </p:nvSpPr>
        <p:spPr>
          <a:xfrm>
            <a:off x="189383" y="4170174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" name="Google Shape;726;p41">
            <a:extLst>
              <a:ext uri="{FF2B5EF4-FFF2-40B4-BE49-F238E27FC236}">
                <a16:creationId xmlns:a16="http://schemas.microsoft.com/office/drawing/2014/main" id="{0396A655-05FA-C326-E382-D815C24F38BB}"/>
              </a:ext>
            </a:extLst>
          </p:cNvPr>
          <p:cNvSpPr txBox="1">
            <a:spLocks/>
          </p:cNvSpPr>
          <p:nvPr/>
        </p:nvSpPr>
        <p:spPr>
          <a:xfrm>
            <a:off x="513150" y="4131847"/>
            <a:ext cx="4011009" cy="54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Dilatazione Morfologica: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Espansione del margine di ricerca per includere i noduli periferici.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>
          <a:extLst>
            <a:ext uri="{FF2B5EF4-FFF2-40B4-BE49-F238E27FC236}">
              <a16:creationId xmlns:a16="http://schemas.microsoft.com/office/drawing/2014/main" id="{D7273DE4-1D82-A77F-8AE0-DE694537C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0" name="Google Shape;830;p46">
            <a:extLst>
              <a:ext uri="{FF2B5EF4-FFF2-40B4-BE49-F238E27FC236}">
                <a16:creationId xmlns:a16="http://schemas.microsoft.com/office/drawing/2014/main" id="{2FB3D9AE-1CD3-5D10-F3FF-B763871A9A04}"/>
              </a:ext>
            </a:extLst>
          </p:cNvPr>
          <p:cNvGrpSpPr/>
          <p:nvPr/>
        </p:nvGrpSpPr>
        <p:grpSpPr>
          <a:xfrm>
            <a:off x="4643689" y="-2084"/>
            <a:ext cx="4500311" cy="4367100"/>
            <a:chOff x="4643689" y="-2084"/>
            <a:chExt cx="4500311" cy="4367100"/>
          </a:xfrm>
        </p:grpSpPr>
        <p:sp>
          <p:nvSpPr>
            <p:cNvPr id="831" name="Google Shape;831;p46">
              <a:extLst>
                <a:ext uri="{FF2B5EF4-FFF2-40B4-BE49-F238E27FC236}">
                  <a16:creationId xmlns:a16="http://schemas.microsoft.com/office/drawing/2014/main" id="{DFD985ED-0B88-1DC6-3055-1273CB36B0DF}"/>
                </a:ext>
              </a:extLst>
            </p:cNvPr>
            <p:cNvSpPr/>
            <p:nvPr/>
          </p:nvSpPr>
          <p:spPr>
            <a:xfrm rot="10800000">
              <a:off x="4714200" y="-2084"/>
              <a:ext cx="4429800" cy="43671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6">
              <a:extLst>
                <a:ext uri="{FF2B5EF4-FFF2-40B4-BE49-F238E27FC236}">
                  <a16:creationId xmlns:a16="http://schemas.microsoft.com/office/drawing/2014/main" id="{055B6E9C-DAA4-236E-C87B-AC3849DB9E1C}"/>
                </a:ext>
              </a:extLst>
            </p:cNvPr>
            <p:cNvSpPr/>
            <p:nvPr/>
          </p:nvSpPr>
          <p:spPr>
            <a:xfrm rot="-8100000" flipH="1">
              <a:off x="7675121" y="3729952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6">
              <a:extLst>
                <a:ext uri="{FF2B5EF4-FFF2-40B4-BE49-F238E27FC236}">
                  <a16:creationId xmlns:a16="http://schemas.microsoft.com/office/drawing/2014/main" id="{35985F4E-A96D-DD51-8AEB-F4DB5AEFD212}"/>
                </a:ext>
              </a:extLst>
            </p:cNvPr>
            <p:cNvSpPr/>
            <p:nvPr/>
          </p:nvSpPr>
          <p:spPr>
            <a:xfrm rot="-8100410" flipH="1">
              <a:off x="4984509" y="1546455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6">
              <a:extLst>
                <a:ext uri="{FF2B5EF4-FFF2-40B4-BE49-F238E27FC236}">
                  <a16:creationId xmlns:a16="http://schemas.microsoft.com/office/drawing/2014/main" id="{CF975854-1777-F7A5-1799-AC251488DA8B}"/>
                </a:ext>
              </a:extLst>
            </p:cNvPr>
            <p:cNvSpPr/>
            <p:nvPr/>
          </p:nvSpPr>
          <p:spPr>
            <a:xfrm rot="-8100410" flipH="1">
              <a:off x="7200339" y="2135756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6">
              <a:extLst>
                <a:ext uri="{FF2B5EF4-FFF2-40B4-BE49-F238E27FC236}">
                  <a16:creationId xmlns:a16="http://schemas.microsoft.com/office/drawing/2014/main" id="{97FD1F91-5676-DD7F-4994-BAF5CC69EE6D}"/>
                </a:ext>
              </a:extLst>
            </p:cNvPr>
            <p:cNvSpPr/>
            <p:nvPr/>
          </p:nvSpPr>
          <p:spPr>
            <a:xfrm rot="-8100410" flipH="1">
              <a:off x="7200341" y="3051389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6">
              <a:extLst>
                <a:ext uri="{FF2B5EF4-FFF2-40B4-BE49-F238E27FC236}">
                  <a16:creationId xmlns:a16="http://schemas.microsoft.com/office/drawing/2014/main" id="{480ED3A9-41F4-FF49-5BD5-6A4DDCE98DC0}"/>
                </a:ext>
              </a:extLst>
            </p:cNvPr>
            <p:cNvSpPr/>
            <p:nvPr/>
          </p:nvSpPr>
          <p:spPr>
            <a:xfrm rot="-8100410" flipH="1">
              <a:off x="5127485" y="821159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6">
              <a:extLst>
                <a:ext uri="{FF2B5EF4-FFF2-40B4-BE49-F238E27FC236}">
                  <a16:creationId xmlns:a16="http://schemas.microsoft.com/office/drawing/2014/main" id="{C7C0406D-A0F0-CCB4-29F6-F5CD9D917793}"/>
                </a:ext>
              </a:extLst>
            </p:cNvPr>
            <p:cNvSpPr/>
            <p:nvPr/>
          </p:nvSpPr>
          <p:spPr>
            <a:xfrm rot="10800000" flipH="1">
              <a:off x="4643689" y="736759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6">
              <a:extLst>
                <a:ext uri="{FF2B5EF4-FFF2-40B4-BE49-F238E27FC236}">
                  <a16:creationId xmlns:a16="http://schemas.microsoft.com/office/drawing/2014/main" id="{760F202E-4523-A41E-B7C7-11E3D6016C69}"/>
                </a:ext>
              </a:extLst>
            </p:cNvPr>
            <p:cNvSpPr/>
            <p:nvPr/>
          </p:nvSpPr>
          <p:spPr>
            <a:xfrm rot="-8100000" flipH="1">
              <a:off x="6246084" y="805971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9" name="Google Shape;839;p46">
            <a:extLst>
              <a:ext uri="{FF2B5EF4-FFF2-40B4-BE49-F238E27FC236}">
                <a16:creationId xmlns:a16="http://schemas.microsoft.com/office/drawing/2014/main" id="{8044557D-7EC2-0A10-184D-241F39031D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5019" y="631048"/>
            <a:ext cx="3932811" cy="46482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Estrazione Candidati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Google Shape;718;p41">
            <a:extLst>
              <a:ext uri="{FF2B5EF4-FFF2-40B4-BE49-F238E27FC236}">
                <a16:creationId xmlns:a16="http://schemas.microsoft.com/office/drawing/2014/main" id="{456E3DC6-1A07-2AFE-0B2D-358A42EE599B}"/>
              </a:ext>
            </a:extLst>
          </p:cNvPr>
          <p:cNvSpPr/>
          <p:nvPr/>
        </p:nvSpPr>
        <p:spPr>
          <a:xfrm>
            <a:off x="205337" y="1575911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" name="Google Shape;718;p41">
            <a:extLst>
              <a:ext uri="{FF2B5EF4-FFF2-40B4-BE49-F238E27FC236}">
                <a16:creationId xmlns:a16="http://schemas.microsoft.com/office/drawing/2014/main" id="{60A96510-C334-0719-CA7D-64B816248072}"/>
              </a:ext>
            </a:extLst>
          </p:cNvPr>
          <p:cNvSpPr/>
          <p:nvPr/>
        </p:nvSpPr>
        <p:spPr>
          <a:xfrm>
            <a:off x="203760" y="2734048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718;p41">
            <a:extLst>
              <a:ext uri="{FF2B5EF4-FFF2-40B4-BE49-F238E27FC236}">
                <a16:creationId xmlns:a16="http://schemas.microsoft.com/office/drawing/2014/main" id="{BCFE8E30-FDFE-8556-5653-738A66288568}"/>
              </a:ext>
            </a:extLst>
          </p:cNvPr>
          <p:cNvSpPr/>
          <p:nvPr/>
        </p:nvSpPr>
        <p:spPr>
          <a:xfrm>
            <a:off x="203760" y="3787440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" name="Google Shape;726;p41">
            <a:extLst>
              <a:ext uri="{FF2B5EF4-FFF2-40B4-BE49-F238E27FC236}">
                <a16:creationId xmlns:a16="http://schemas.microsoft.com/office/drawing/2014/main" id="{7B11C2CB-EABC-708B-C387-77DC23DECE4C}"/>
              </a:ext>
            </a:extLst>
          </p:cNvPr>
          <p:cNvSpPr txBox="1">
            <a:spLocks/>
          </p:cNvSpPr>
          <p:nvPr/>
        </p:nvSpPr>
        <p:spPr>
          <a:xfrm>
            <a:off x="527528" y="3743942"/>
            <a:ext cx="5291381" cy="54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Filtraggio Differito: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scrematura avverrà nelle fasi successive tramite logiche geometriche e spaziali mirate.</a:t>
            </a:r>
          </a:p>
        </p:txBody>
      </p:sp>
      <p:sp>
        <p:nvSpPr>
          <p:cNvPr id="17" name="Google Shape;726;p41">
            <a:extLst>
              <a:ext uri="{FF2B5EF4-FFF2-40B4-BE49-F238E27FC236}">
                <a16:creationId xmlns:a16="http://schemas.microsoft.com/office/drawing/2014/main" id="{4AA998C8-4507-EF7C-DFF9-64ADC2337A96}"/>
              </a:ext>
            </a:extLst>
          </p:cNvPr>
          <p:cNvSpPr txBox="1">
            <a:spLocks/>
          </p:cNvSpPr>
          <p:nvPr/>
        </p:nvSpPr>
        <p:spPr>
          <a:xfrm>
            <a:off x="527527" y="1554333"/>
            <a:ext cx="4630584" cy="73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Massimizzazione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della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Sensibilità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questa fase, l'obiettivo primario è generare tutte le possibili lesioni presenti nella slice.</a:t>
            </a:r>
          </a:p>
        </p:txBody>
      </p:sp>
      <p:sp>
        <p:nvSpPr>
          <p:cNvPr id="18" name="Google Shape;726;p41">
            <a:extLst>
              <a:ext uri="{FF2B5EF4-FFF2-40B4-BE49-F238E27FC236}">
                <a16:creationId xmlns:a16="http://schemas.microsoft.com/office/drawing/2014/main" id="{011C8BFC-AADF-2FC8-E642-DE23282E6F3F}"/>
              </a:ext>
            </a:extLst>
          </p:cNvPr>
          <p:cNvSpPr txBox="1">
            <a:spLocks/>
          </p:cNvSpPr>
          <p:nvPr/>
        </p:nvSpPr>
        <p:spPr>
          <a:xfrm>
            <a:off x="527527" y="2695721"/>
            <a:ext cx="4561199" cy="54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Tolleranza ai Falsi Positivi: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 accetta intenzionalmente una severa sovra-segmentazione.</a:t>
            </a:r>
          </a:p>
        </p:txBody>
      </p:sp>
      <p:pic>
        <p:nvPicPr>
          <p:cNvPr id="32" name="Picture Placeholder 31">
            <a:extLst>
              <a:ext uri="{FF2B5EF4-FFF2-40B4-BE49-F238E27FC236}">
                <a16:creationId xmlns:a16="http://schemas.microsoft.com/office/drawing/2014/main" id="{CBD5B2E4-F15E-A3CF-3DF4-7BD29BDDAC1C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1183" r="11183"/>
          <a:stretch>
            <a:fillRect/>
          </a:stretch>
        </p:blipFill>
        <p:spPr>
          <a:prstGeom prst="ellipse">
            <a:avLst/>
          </a:prstGeom>
          <a:noFill/>
          <a:ln w="381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303090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6"/>
          <p:cNvSpPr txBox="1">
            <a:spLocks noGrp="1"/>
          </p:cNvSpPr>
          <p:nvPr>
            <p:ph type="title"/>
          </p:nvPr>
        </p:nvSpPr>
        <p:spPr>
          <a:xfrm>
            <a:off x="307588" y="4375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Tipologie di Lesioni Candidate</a:t>
            </a:r>
          </a:p>
        </p:txBody>
      </p:sp>
      <p:sp>
        <p:nvSpPr>
          <p:cNvPr id="548" name="Google Shape;548;p36"/>
          <p:cNvSpPr/>
          <p:nvPr/>
        </p:nvSpPr>
        <p:spPr>
          <a:xfrm>
            <a:off x="3030085" y="1480664"/>
            <a:ext cx="2259300" cy="4425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Noduli</a:t>
            </a:r>
            <a:endParaRPr sz="2000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49" name="Google Shape;549;p36"/>
          <p:cNvSpPr/>
          <p:nvPr/>
        </p:nvSpPr>
        <p:spPr>
          <a:xfrm>
            <a:off x="221638" y="2746664"/>
            <a:ext cx="1908300" cy="4425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it-IT" sz="2000" b="1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chivo"/>
              </a:rPr>
              <a:t>Juxtapleurici</a:t>
            </a:r>
            <a:endParaRPr sz="2000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50" name="Google Shape;550;p36"/>
          <p:cNvSpPr/>
          <p:nvPr/>
        </p:nvSpPr>
        <p:spPr>
          <a:xfrm>
            <a:off x="2209200" y="2746664"/>
            <a:ext cx="1908300" cy="4425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chivo"/>
              </a:rPr>
              <a:t>GGO</a:t>
            </a:r>
            <a:endParaRPr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chivo"/>
            </a:endParaRPr>
          </a:p>
        </p:txBody>
      </p:sp>
      <p:sp>
        <p:nvSpPr>
          <p:cNvPr id="551" name="Google Shape;551;p36"/>
          <p:cNvSpPr/>
          <p:nvPr/>
        </p:nvSpPr>
        <p:spPr>
          <a:xfrm>
            <a:off x="4196013" y="2746664"/>
            <a:ext cx="1907213" cy="4425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chivo"/>
              </a:rPr>
              <a:t>Calcificazioni</a:t>
            </a:r>
            <a:endParaRPr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chivo"/>
            </a:endParaRPr>
          </a:p>
        </p:txBody>
      </p:sp>
      <p:sp>
        <p:nvSpPr>
          <p:cNvPr id="552" name="Google Shape;552;p36"/>
          <p:cNvSpPr/>
          <p:nvPr/>
        </p:nvSpPr>
        <p:spPr>
          <a:xfrm>
            <a:off x="6182788" y="2746664"/>
            <a:ext cx="1908300" cy="4425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chivo"/>
              </a:rPr>
              <a:t> Solidi</a:t>
            </a:r>
          </a:p>
        </p:txBody>
      </p:sp>
      <p:cxnSp>
        <p:nvCxnSpPr>
          <p:cNvPr id="553" name="Google Shape;553;p36"/>
          <p:cNvCxnSpPr>
            <a:stCxn id="548" idx="2"/>
            <a:endCxn id="550" idx="0"/>
          </p:cNvCxnSpPr>
          <p:nvPr/>
        </p:nvCxnSpPr>
        <p:spPr>
          <a:xfrm rot="5400000">
            <a:off x="3249835" y="1836764"/>
            <a:ext cx="823500" cy="996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54" name="Google Shape;554;p36"/>
          <p:cNvCxnSpPr>
            <a:stCxn id="549" idx="0"/>
            <a:endCxn id="548" idx="2"/>
          </p:cNvCxnSpPr>
          <p:nvPr/>
        </p:nvCxnSpPr>
        <p:spPr>
          <a:xfrm rot="-5400000">
            <a:off x="2255938" y="843014"/>
            <a:ext cx="823500" cy="2983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55" name="Google Shape;555;p36"/>
          <p:cNvCxnSpPr>
            <a:stCxn id="548" idx="2"/>
            <a:endCxn id="552" idx="0"/>
          </p:cNvCxnSpPr>
          <p:nvPr/>
        </p:nvCxnSpPr>
        <p:spPr>
          <a:xfrm rot="-5400000" flipH="1">
            <a:off x="5236585" y="846314"/>
            <a:ext cx="823500" cy="2977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56" name="Google Shape;556;p36"/>
          <p:cNvCxnSpPr>
            <a:cxnSpLocks/>
            <a:stCxn id="551" idx="0"/>
            <a:endCxn id="548" idx="2"/>
          </p:cNvCxnSpPr>
          <p:nvPr/>
        </p:nvCxnSpPr>
        <p:spPr>
          <a:xfrm rot="16200000" flipV="1">
            <a:off x="4242928" y="1839971"/>
            <a:ext cx="823500" cy="98988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7" name="Google Shape;557;p36"/>
          <p:cNvSpPr txBox="1"/>
          <p:nvPr/>
        </p:nvSpPr>
        <p:spPr>
          <a:xfrm>
            <a:off x="312263" y="3420963"/>
            <a:ext cx="1726946" cy="157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Lesioni morfologicamente adese alla parete toracica o alla pleura</a:t>
            </a:r>
            <a:endParaRPr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58" name="Google Shape;558;p36"/>
          <p:cNvSpPr txBox="1"/>
          <p:nvPr/>
        </p:nvSpPr>
        <p:spPr>
          <a:xfrm>
            <a:off x="6299090" y="3420964"/>
            <a:ext cx="1675800" cy="1358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it-IT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Lesioni compatte ad alto contrasto isolate nel parenchima</a:t>
            </a:r>
          </a:p>
        </p:txBody>
      </p:sp>
      <p:sp>
        <p:nvSpPr>
          <p:cNvPr id="559" name="Google Shape;559;p36"/>
          <p:cNvSpPr txBox="1"/>
          <p:nvPr/>
        </p:nvSpPr>
        <p:spPr>
          <a:xfrm>
            <a:off x="2324950" y="3420964"/>
            <a:ext cx="1677600" cy="998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Lesioni a densità sfumata e margini indefiniti.</a:t>
            </a:r>
            <a:endParaRPr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0" name="Google Shape;560;p36"/>
          <p:cNvSpPr txBox="1"/>
          <p:nvPr/>
        </p:nvSpPr>
        <p:spPr>
          <a:xfrm>
            <a:off x="4312920" y="3420963"/>
            <a:ext cx="1675800" cy="1358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Strutture </a:t>
            </a:r>
            <a:r>
              <a:rPr lang="it-IT" dirty="0" err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iperdense</a:t>
            </a:r>
            <a:r>
              <a:rPr lang="it-IT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all'interno del polmone.</a:t>
            </a:r>
            <a:endParaRPr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561" name="Google Shape;561;p36"/>
          <p:cNvCxnSpPr>
            <a:cxnSpLocks/>
            <a:stCxn id="549" idx="2"/>
            <a:endCxn id="557" idx="0"/>
          </p:cNvCxnSpPr>
          <p:nvPr/>
        </p:nvCxnSpPr>
        <p:spPr>
          <a:xfrm flipH="1">
            <a:off x="1175736" y="3189164"/>
            <a:ext cx="52" cy="231799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oval" w="med" len="med"/>
          </a:ln>
        </p:spPr>
      </p:cxnSp>
      <p:cxnSp>
        <p:nvCxnSpPr>
          <p:cNvPr id="562" name="Google Shape;562;p36"/>
          <p:cNvCxnSpPr>
            <a:cxnSpLocks/>
            <a:stCxn id="550" idx="2"/>
            <a:endCxn id="559" idx="0"/>
          </p:cNvCxnSpPr>
          <p:nvPr/>
        </p:nvCxnSpPr>
        <p:spPr>
          <a:xfrm>
            <a:off x="3163350" y="3189164"/>
            <a:ext cx="400" cy="2318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oval" w="med" len="med"/>
          </a:ln>
        </p:spPr>
      </p:cxnSp>
      <p:cxnSp>
        <p:nvCxnSpPr>
          <p:cNvPr id="563" name="Google Shape;563;p36"/>
          <p:cNvCxnSpPr>
            <a:cxnSpLocks/>
            <a:stCxn id="551" idx="2"/>
            <a:endCxn id="560" idx="0"/>
          </p:cNvCxnSpPr>
          <p:nvPr/>
        </p:nvCxnSpPr>
        <p:spPr>
          <a:xfrm>
            <a:off x="5149620" y="3189164"/>
            <a:ext cx="1200" cy="231799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oval" w="med" len="med"/>
          </a:ln>
        </p:spPr>
      </p:cxnSp>
      <p:cxnSp>
        <p:nvCxnSpPr>
          <p:cNvPr id="564" name="Google Shape;564;p36"/>
          <p:cNvCxnSpPr>
            <a:cxnSpLocks/>
            <a:stCxn id="552" idx="2"/>
            <a:endCxn id="558" idx="0"/>
          </p:cNvCxnSpPr>
          <p:nvPr/>
        </p:nvCxnSpPr>
        <p:spPr>
          <a:xfrm>
            <a:off x="7136938" y="3189164"/>
            <a:ext cx="52" cy="2318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8" name="Google Shape;788;p43"/>
          <p:cNvGrpSpPr/>
          <p:nvPr/>
        </p:nvGrpSpPr>
        <p:grpSpPr>
          <a:xfrm>
            <a:off x="4643689" y="-2084"/>
            <a:ext cx="4500311" cy="4466709"/>
            <a:chOff x="4643689" y="-2084"/>
            <a:chExt cx="4500311" cy="4466709"/>
          </a:xfrm>
        </p:grpSpPr>
        <p:sp>
          <p:nvSpPr>
            <p:cNvPr id="789" name="Google Shape;789;p43"/>
            <p:cNvSpPr/>
            <p:nvPr/>
          </p:nvSpPr>
          <p:spPr>
            <a:xfrm rot="10800000">
              <a:off x="4714200" y="-2084"/>
              <a:ext cx="4429800" cy="43671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3"/>
            <p:cNvSpPr/>
            <p:nvPr/>
          </p:nvSpPr>
          <p:spPr>
            <a:xfrm rot="-8100000" flipH="1">
              <a:off x="7675121" y="3729952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3"/>
            <p:cNvSpPr/>
            <p:nvPr/>
          </p:nvSpPr>
          <p:spPr>
            <a:xfrm rot="-8100410" flipH="1">
              <a:off x="4984509" y="1546455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3"/>
            <p:cNvSpPr/>
            <p:nvPr/>
          </p:nvSpPr>
          <p:spPr>
            <a:xfrm rot="-8100410" flipH="1">
              <a:off x="7108289" y="2729006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3"/>
            <p:cNvSpPr/>
            <p:nvPr/>
          </p:nvSpPr>
          <p:spPr>
            <a:xfrm rot="-8100410" flipH="1">
              <a:off x="6792716" y="3427614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3"/>
            <p:cNvSpPr/>
            <p:nvPr/>
          </p:nvSpPr>
          <p:spPr>
            <a:xfrm rot="-8100410" flipH="1">
              <a:off x="5127485" y="821159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3"/>
            <p:cNvSpPr/>
            <p:nvPr/>
          </p:nvSpPr>
          <p:spPr>
            <a:xfrm rot="10800000" flipH="1">
              <a:off x="4643689" y="736759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7" name="Google Shape;797;p43"/>
          <p:cNvSpPr/>
          <p:nvPr/>
        </p:nvSpPr>
        <p:spPr>
          <a:xfrm rot="-8100000" flipH="1">
            <a:off x="6246084" y="805971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A1F4CEC-9A88-FCEA-542B-AA47319F8C75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5827" r="15827"/>
          <a:stretch>
            <a:fillRect/>
          </a:stretch>
        </p:blipFill>
        <p:spPr>
          <a:prstGeom prst="ellipse">
            <a:avLst/>
          </a:prstGeom>
          <a:noFill/>
          <a:ln w="381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" name="Google Shape;787;p43">
            <a:extLst>
              <a:ext uri="{FF2B5EF4-FFF2-40B4-BE49-F238E27FC236}">
                <a16:creationId xmlns:a16="http://schemas.microsoft.com/office/drawing/2014/main" id="{61C19BC1-A598-5FE0-C513-9A1E3CB77197}"/>
              </a:ext>
            </a:extLst>
          </p:cNvPr>
          <p:cNvSpPr txBox="1">
            <a:spLocks/>
          </p:cNvSpPr>
          <p:nvPr/>
        </p:nvSpPr>
        <p:spPr>
          <a:xfrm>
            <a:off x="91328" y="303459"/>
            <a:ext cx="4806621" cy="7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indent="0"/>
            <a:r>
              <a:rPr lang="it-IT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Gestione del Basso Contrasto: Lesioni GGO</a:t>
            </a:r>
            <a:endParaRPr lang="en-US" sz="2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Google Shape;718;p41">
            <a:extLst>
              <a:ext uri="{FF2B5EF4-FFF2-40B4-BE49-F238E27FC236}">
                <a16:creationId xmlns:a16="http://schemas.microsoft.com/office/drawing/2014/main" id="{31AD3D4D-A2FE-BC73-0FB6-37D8F8832676}"/>
              </a:ext>
            </a:extLst>
          </p:cNvPr>
          <p:cNvSpPr/>
          <p:nvPr/>
        </p:nvSpPr>
        <p:spPr>
          <a:xfrm>
            <a:off x="84974" y="1746166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718;p41">
            <a:extLst>
              <a:ext uri="{FF2B5EF4-FFF2-40B4-BE49-F238E27FC236}">
                <a16:creationId xmlns:a16="http://schemas.microsoft.com/office/drawing/2014/main" id="{138C4C87-9BCC-C880-B019-8ABBFAC21E83}"/>
              </a:ext>
            </a:extLst>
          </p:cNvPr>
          <p:cNvSpPr/>
          <p:nvPr/>
        </p:nvSpPr>
        <p:spPr>
          <a:xfrm>
            <a:off x="84974" y="2678831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718;p41">
            <a:extLst>
              <a:ext uri="{FF2B5EF4-FFF2-40B4-BE49-F238E27FC236}">
                <a16:creationId xmlns:a16="http://schemas.microsoft.com/office/drawing/2014/main" id="{07667C64-5A9C-9E21-3829-FE6B72463278}"/>
              </a:ext>
            </a:extLst>
          </p:cNvPr>
          <p:cNvSpPr/>
          <p:nvPr/>
        </p:nvSpPr>
        <p:spPr>
          <a:xfrm>
            <a:off x="77056" y="3555243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" name="Google Shape;726;p41">
            <a:extLst>
              <a:ext uri="{FF2B5EF4-FFF2-40B4-BE49-F238E27FC236}">
                <a16:creationId xmlns:a16="http://schemas.microsoft.com/office/drawing/2014/main" id="{69AE4F44-6716-9BB4-20D5-CFC4AE470EA2}"/>
              </a:ext>
            </a:extLst>
          </p:cNvPr>
          <p:cNvSpPr txBox="1">
            <a:spLocks/>
          </p:cNvSpPr>
          <p:nvPr/>
        </p:nvSpPr>
        <p:spPr>
          <a:xfrm>
            <a:off x="400824" y="3511745"/>
            <a:ext cx="5291381" cy="54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Sottrazione del Background: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Viene applicato un filtro di sfocatura (</a:t>
            </a:r>
            <a:r>
              <a:rPr lang="it-IT" sz="1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Gaussian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Blur) per stimare l'intensità locale. Il candidato emerge per sottrazione matematica.</a:t>
            </a:r>
          </a:p>
        </p:txBody>
      </p:sp>
      <p:sp>
        <p:nvSpPr>
          <p:cNvPr id="14" name="Google Shape;726;p41">
            <a:extLst>
              <a:ext uri="{FF2B5EF4-FFF2-40B4-BE49-F238E27FC236}">
                <a16:creationId xmlns:a16="http://schemas.microsoft.com/office/drawing/2014/main" id="{E0A04216-4447-C462-E1F3-6E708CDDD88F}"/>
              </a:ext>
            </a:extLst>
          </p:cNvPr>
          <p:cNvSpPr txBox="1">
            <a:spLocks/>
          </p:cNvSpPr>
          <p:nvPr/>
        </p:nvSpPr>
        <p:spPr>
          <a:xfrm>
            <a:off x="407164" y="1724588"/>
            <a:ext cx="4630584" cy="73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Sfida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Clinica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noduli GGO presentano valori di attenuazione (HU) molto vicini a quelli del tessuto polmonare sano circostante.</a:t>
            </a:r>
          </a:p>
        </p:txBody>
      </p:sp>
      <p:sp>
        <p:nvSpPr>
          <p:cNvPr id="15" name="Google Shape;726;p41">
            <a:extLst>
              <a:ext uri="{FF2B5EF4-FFF2-40B4-BE49-F238E27FC236}">
                <a16:creationId xmlns:a16="http://schemas.microsoft.com/office/drawing/2014/main" id="{7B4BA280-31C9-F6F5-5146-88598D7795A6}"/>
              </a:ext>
            </a:extLst>
          </p:cNvPr>
          <p:cNvSpPr txBox="1">
            <a:spLocks/>
          </p:cNvSpPr>
          <p:nvPr/>
        </p:nvSpPr>
        <p:spPr>
          <a:xfrm>
            <a:off x="414740" y="2640493"/>
            <a:ext cx="4561199" cy="54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L'Approccio Algoritmico: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Invece di una </a:t>
            </a:r>
            <a:r>
              <a:rPr lang="it-IT" sz="1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sogliatura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globale, si valuta il contrasto locale.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>
          <a:extLst>
            <a:ext uri="{FF2B5EF4-FFF2-40B4-BE49-F238E27FC236}">
              <a16:creationId xmlns:a16="http://schemas.microsoft.com/office/drawing/2014/main" id="{0DA1DE0C-3AF6-8922-E099-38D49B529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Google Shape;529;p35">
            <a:extLst>
              <a:ext uri="{FF2B5EF4-FFF2-40B4-BE49-F238E27FC236}">
                <a16:creationId xmlns:a16="http://schemas.microsoft.com/office/drawing/2014/main" id="{F19D1B18-D33B-4A15-07E1-5DD5BFBDD86B}"/>
              </a:ext>
            </a:extLst>
          </p:cNvPr>
          <p:cNvGrpSpPr/>
          <p:nvPr/>
        </p:nvGrpSpPr>
        <p:grpSpPr>
          <a:xfrm>
            <a:off x="3979500" y="7000"/>
            <a:ext cx="5164500" cy="5143500"/>
            <a:chOff x="3979500" y="7000"/>
            <a:chExt cx="5164500" cy="5143500"/>
          </a:xfrm>
        </p:grpSpPr>
        <p:sp>
          <p:nvSpPr>
            <p:cNvPr id="530" name="Google Shape;530;p35">
              <a:extLst>
                <a:ext uri="{FF2B5EF4-FFF2-40B4-BE49-F238E27FC236}">
                  <a16:creationId xmlns:a16="http://schemas.microsoft.com/office/drawing/2014/main" id="{4C73758C-75B0-5416-E2D2-1D9BC6FA7948}"/>
                </a:ext>
              </a:extLst>
            </p:cNvPr>
            <p:cNvSpPr/>
            <p:nvPr/>
          </p:nvSpPr>
          <p:spPr>
            <a:xfrm flipH="1">
              <a:off x="3979500" y="7000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5">
              <a:extLst>
                <a:ext uri="{FF2B5EF4-FFF2-40B4-BE49-F238E27FC236}">
                  <a16:creationId xmlns:a16="http://schemas.microsoft.com/office/drawing/2014/main" id="{AD8C231F-D188-0CFD-5C8C-5E14EAB1D36E}"/>
                </a:ext>
              </a:extLst>
            </p:cNvPr>
            <p:cNvSpPr/>
            <p:nvPr/>
          </p:nvSpPr>
          <p:spPr>
            <a:xfrm rot="-2699590">
              <a:off x="4521184" y="3647078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5">
              <a:extLst>
                <a:ext uri="{FF2B5EF4-FFF2-40B4-BE49-F238E27FC236}">
                  <a16:creationId xmlns:a16="http://schemas.microsoft.com/office/drawing/2014/main" id="{EB3133F6-7B9B-8F2C-4BFC-D1CCF5F9C60A}"/>
                </a:ext>
              </a:extLst>
            </p:cNvPr>
            <p:cNvSpPr/>
            <p:nvPr/>
          </p:nvSpPr>
          <p:spPr>
            <a:xfrm rot="-2699590">
              <a:off x="7184489" y="22450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5">
              <a:extLst>
                <a:ext uri="{FF2B5EF4-FFF2-40B4-BE49-F238E27FC236}">
                  <a16:creationId xmlns:a16="http://schemas.microsoft.com/office/drawing/2014/main" id="{2B72C39E-C4EE-1190-A7A6-AE45748A2925}"/>
                </a:ext>
              </a:extLst>
            </p:cNvPr>
            <p:cNvSpPr/>
            <p:nvPr/>
          </p:nvSpPr>
          <p:spPr>
            <a:xfrm rot="-2699590">
              <a:off x="6716516" y="1166805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5">
              <a:extLst>
                <a:ext uri="{FF2B5EF4-FFF2-40B4-BE49-F238E27FC236}">
                  <a16:creationId xmlns:a16="http://schemas.microsoft.com/office/drawing/2014/main" id="{CE11440B-A008-0982-562D-282509DFF5C1}"/>
                </a:ext>
              </a:extLst>
            </p:cNvPr>
            <p:cNvSpPr/>
            <p:nvPr/>
          </p:nvSpPr>
          <p:spPr>
            <a:xfrm rot="-2699590">
              <a:off x="5940285" y="3571560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5">
              <a:extLst>
                <a:ext uri="{FF2B5EF4-FFF2-40B4-BE49-F238E27FC236}">
                  <a16:creationId xmlns:a16="http://schemas.microsoft.com/office/drawing/2014/main" id="{58F65A6B-C2F3-478A-0C5C-3682BFBECCB3}"/>
                </a:ext>
              </a:extLst>
            </p:cNvPr>
            <p:cNvSpPr/>
            <p:nvPr/>
          </p:nvSpPr>
          <p:spPr>
            <a:xfrm>
              <a:off x="6777914" y="2891181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6" name="Google Shape;536;p35">
            <a:extLst>
              <a:ext uri="{FF2B5EF4-FFF2-40B4-BE49-F238E27FC236}">
                <a16:creationId xmlns:a16="http://schemas.microsoft.com/office/drawing/2014/main" id="{4B586169-5E3C-ACA9-1C7D-FC533FF150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370" y="1011420"/>
            <a:ext cx="6073660" cy="5334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Noduli </a:t>
            </a:r>
            <a:r>
              <a:rPr lang="it-IT" sz="2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Juxtapleurici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chivo"/>
            </a:endParaRPr>
          </a:p>
        </p:txBody>
      </p:sp>
      <p:grpSp>
        <p:nvGrpSpPr>
          <p:cNvPr id="540" name="Google Shape;540;p35">
            <a:extLst>
              <a:ext uri="{FF2B5EF4-FFF2-40B4-BE49-F238E27FC236}">
                <a16:creationId xmlns:a16="http://schemas.microsoft.com/office/drawing/2014/main" id="{DBDB1D9B-C707-C7DC-217D-B51979EACFA6}"/>
              </a:ext>
            </a:extLst>
          </p:cNvPr>
          <p:cNvGrpSpPr/>
          <p:nvPr/>
        </p:nvGrpSpPr>
        <p:grpSpPr>
          <a:xfrm>
            <a:off x="5405445" y="1044251"/>
            <a:ext cx="3160612" cy="3291131"/>
            <a:chOff x="5405445" y="1044251"/>
            <a:chExt cx="3160612" cy="3291131"/>
          </a:xfrm>
        </p:grpSpPr>
        <p:sp>
          <p:nvSpPr>
            <p:cNvPr id="541" name="Google Shape;541;p35">
              <a:extLst>
                <a:ext uri="{FF2B5EF4-FFF2-40B4-BE49-F238E27FC236}">
                  <a16:creationId xmlns:a16="http://schemas.microsoft.com/office/drawing/2014/main" id="{8EBC1B3E-A183-93B9-BC28-763852E75B72}"/>
                </a:ext>
              </a:extLst>
            </p:cNvPr>
            <p:cNvSpPr/>
            <p:nvPr/>
          </p:nvSpPr>
          <p:spPr>
            <a:xfrm rot="-2700000">
              <a:off x="7675121" y="1379613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5">
              <a:extLst>
                <a:ext uri="{FF2B5EF4-FFF2-40B4-BE49-F238E27FC236}">
                  <a16:creationId xmlns:a16="http://schemas.microsoft.com/office/drawing/2014/main" id="{C3F6882D-B858-7FB9-68D1-C445C8256D24}"/>
                </a:ext>
              </a:extLst>
            </p:cNvPr>
            <p:cNvSpPr/>
            <p:nvPr/>
          </p:nvSpPr>
          <p:spPr>
            <a:xfrm rot="-2700000">
              <a:off x="5300209" y="3885044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718;p41">
            <a:extLst>
              <a:ext uri="{FF2B5EF4-FFF2-40B4-BE49-F238E27FC236}">
                <a16:creationId xmlns:a16="http://schemas.microsoft.com/office/drawing/2014/main" id="{083EB013-02EB-399D-A1E4-C0D7A34B54B0}"/>
              </a:ext>
            </a:extLst>
          </p:cNvPr>
          <p:cNvSpPr/>
          <p:nvPr/>
        </p:nvSpPr>
        <p:spPr>
          <a:xfrm>
            <a:off x="131637" y="2199463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718;p41">
            <a:extLst>
              <a:ext uri="{FF2B5EF4-FFF2-40B4-BE49-F238E27FC236}">
                <a16:creationId xmlns:a16="http://schemas.microsoft.com/office/drawing/2014/main" id="{8DE04E34-ECFD-625A-6A2C-41B4BEC092A2}"/>
              </a:ext>
            </a:extLst>
          </p:cNvPr>
          <p:cNvSpPr/>
          <p:nvPr/>
        </p:nvSpPr>
        <p:spPr>
          <a:xfrm>
            <a:off x="131637" y="3065441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" name="Google Shape;718;p41">
            <a:extLst>
              <a:ext uri="{FF2B5EF4-FFF2-40B4-BE49-F238E27FC236}">
                <a16:creationId xmlns:a16="http://schemas.microsoft.com/office/drawing/2014/main" id="{540AB87C-704D-532A-E01C-E380378692F2}"/>
              </a:ext>
            </a:extLst>
          </p:cNvPr>
          <p:cNvSpPr/>
          <p:nvPr/>
        </p:nvSpPr>
        <p:spPr>
          <a:xfrm>
            <a:off x="131637" y="3893092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" name="Google Shape;726;p41">
            <a:extLst>
              <a:ext uri="{FF2B5EF4-FFF2-40B4-BE49-F238E27FC236}">
                <a16:creationId xmlns:a16="http://schemas.microsoft.com/office/drawing/2014/main" id="{35E30093-E774-03BE-9C4F-BAC708972A4B}"/>
              </a:ext>
            </a:extLst>
          </p:cNvPr>
          <p:cNvSpPr txBox="1">
            <a:spLocks/>
          </p:cNvSpPr>
          <p:nvPr/>
        </p:nvSpPr>
        <p:spPr>
          <a:xfrm>
            <a:off x="463103" y="3810419"/>
            <a:ext cx="4312554" cy="727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Estrazione delle Concavità: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Sottraendo il polmone reale dal suo inviluppo, emergono le "rientranze. Queste diventano i candidati </a:t>
            </a:r>
            <a:r>
              <a:rPr lang="it-IT" sz="1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juxtapleurici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0" name="Google Shape;726;p41">
            <a:extLst>
              <a:ext uri="{FF2B5EF4-FFF2-40B4-BE49-F238E27FC236}">
                <a16:creationId xmlns:a16="http://schemas.microsoft.com/office/drawing/2014/main" id="{2B2C2D3A-EF5B-8778-3A36-3FF8BA753F91}"/>
              </a:ext>
            </a:extLst>
          </p:cNvPr>
          <p:cNvSpPr txBox="1">
            <a:spLocks/>
          </p:cNvSpPr>
          <p:nvPr/>
        </p:nvSpPr>
        <p:spPr>
          <a:xfrm>
            <a:off x="446330" y="1969661"/>
            <a:ext cx="4894884" cy="924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Morfologico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Essendo fusi con la pleura, questi noduli vengono erroneamente scartati ed eliminati insieme alla parete toracica durante la segmentazione del polmone.</a:t>
            </a:r>
          </a:p>
        </p:txBody>
      </p:sp>
      <p:sp>
        <p:nvSpPr>
          <p:cNvPr id="41" name="Google Shape;726;p41">
            <a:extLst>
              <a:ext uri="{FF2B5EF4-FFF2-40B4-BE49-F238E27FC236}">
                <a16:creationId xmlns:a16="http://schemas.microsoft.com/office/drawing/2014/main" id="{1005FB49-62B5-6FCC-6A41-05F4D32054AA}"/>
              </a:ext>
            </a:extLst>
          </p:cNvPr>
          <p:cNvSpPr txBox="1">
            <a:spLocks/>
          </p:cNvSpPr>
          <p:nvPr/>
        </p:nvSpPr>
        <p:spPr>
          <a:xfrm>
            <a:off x="455404" y="3027114"/>
            <a:ext cx="4561199" cy="54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L'Inviluppo Convesso: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L'algoritmo calcola il perimetro convesso della maschera polmonare.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D6089AE9-2D99-B4A7-4225-6585FC6B8D76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3"/>
          <a:srcRect l="15275" r="15275"/>
          <a:stretch>
            <a:fillRect/>
          </a:stretch>
        </p:blipFill>
        <p:spPr>
          <a:prstGeom prst="ellipse">
            <a:avLst/>
          </a:prstGeom>
          <a:noFill/>
          <a:ln w="381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440056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8"/>
          <p:cNvSpPr txBox="1">
            <a:spLocks noGrp="1"/>
          </p:cNvSpPr>
          <p:nvPr>
            <p:ph type="title"/>
          </p:nvPr>
        </p:nvSpPr>
        <p:spPr>
          <a:xfrm>
            <a:off x="263232" y="360184"/>
            <a:ext cx="418143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EXTRACTION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3" name="Google Shape;613;p38"/>
          <p:cNvSpPr txBox="1"/>
          <p:nvPr/>
        </p:nvSpPr>
        <p:spPr>
          <a:xfrm flipH="1">
            <a:off x="263232" y="3591668"/>
            <a:ext cx="1434263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chivo"/>
              </a:rPr>
              <a:t>Eccentricità</a:t>
            </a:r>
            <a:endParaRPr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chivo"/>
            </a:endParaRPr>
          </a:p>
        </p:txBody>
      </p:sp>
      <p:sp>
        <p:nvSpPr>
          <p:cNvPr id="614" name="Google Shape;614;p38"/>
          <p:cNvSpPr txBox="1"/>
          <p:nvPr/>
        </p:nvSpPr>
        <p:spPr>
          <a:xfrm>
            <a:off x="6489374" y="3704468"/>
            <a:ext cx="1996535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nrope"/>
              </a:rPr>
              <a:t>Densità radiologica assoluta del candidato.</a:t>
            </a:r>
            <a:endParaRPr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anrope"/>
            </a:endParaRPr>
          </a:p>
        </p:txBody>
      </p:sp>
      <p:sp>
        <p:nvSpPr>
          <p:cNvPr id="615" name="Google Shape;615;p38"/>
          <p:cNvSpPr txBox="1"/>
          <p:nvPr/>
        </p:nvSpPr>
        <p:spPr>
          <a:xfrm>
            <a:off x="6476275" y="2268389"/>
            <a:ext cx="1822598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nrope"/>
              </a:rPr>
              <a:t>Misura la compattezza del blob. Distingue tumori solidi da tessuti sfilacciati.</a:t>
            </a:r>
            <a:endParaRPr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anrope"/>
            </a:endParaRPr>
          </a:p>
        </p:txBody>
      </p:sp>
      <p:sp>
        <p:nvSpPr>
          <p:cNvPr id="616" name="Google Shape;616;p38"/>
          <p:cNvSpPr txBox="1"/>
          <p:nvPr/>
        </p:nvSpPr>
        <p:spPr>
          <a:xfrm>
            <a:off x="2062408" y="2268389"/>
            <a:ext cx="1706028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nrope"/>
              </a:rPr>
              <a:t>Dimensione fisica per applicare filtri di grandezza.</a:t>
            </a:r>
            <a:endParaRPr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anrope"/>
            </a:endParaRPr>
          </a:p>
        </p:txBody>
      </p:sp>
      <p:sp>
        <p:nvSpPr>
          <p:cNvPr id="617" name="Google Shape;617;p38"/>
          <p:cNvSpPr txBox="1"/>
          <p:nvPr/>
        </p:nvSpPr>
        <p:spPr>
          <a:xfrm>
            <a:off x="2154209" y="3704468"/>
            <a:ext cx="2050646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nrope"/>
              </a:rPr>
              <a:t>Misura l'allungamento. Cruciale per discriminare lesioni sferiche da strutture tubolari.</a:t>
            </a:r>
            <a:endParaRPr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anrope"/>
            </a:endParaRPr>
          </a:p>
        </p:txBody>
      </p:sp>
      <p:cxnSp>
        <p:nvCxnSpPr>
          <p:cNvPr id="618" name="Google Shape;618;p38"/>
          <p:cNvCxnSpPr>
            <a:cxnSpLocks/>
            <a:endCxn id="614" idx="1"/>
          </p:cNvCxnSpPr>
          <p:nvPr/>
        </p:nvCxnSpPr>
        <p:spPr>
          <a:xfrm flipV="1">
            <a:off x="6101723" y="3878018"/>
            <a:ext cx="387651" cy="8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619" name="Google Shape;619;p38"/>
          <p:cNvCxnSpPr>
            <a:cxnSpLocks/>
            <a:endCxn id="615" idx="1"/>
          </p:cNvCxnSpPr>
          <p:nvPr/>
        </p:nvCxnSpPr>
        <p:spPr>
          <a:xfrm>
            <a:off x="6088625" y="2441939"/>
            <a:ext cx="38765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620" name="Google Shape;620;p38"/>
          <p:cNvCxnSpPr>
            <a:cxnSpLocks/>
            <a:endCxn id="616" idx="1"/>
          </p:cNvCxnSpPr>
          <p:nvPr/>
        </p:nvCxnSpPr>
        <p:spPr>
          <a:xfrm flipV="1">
            <a:off x="1674757" y="2441939"/>
            <a:ext cx="387651" cy="16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621" name="Google Shape;621;p38"/>
          <p:cNvCxnSpPr>
            <a:cxnSpLocks/>
            <a:stCxn id="613" idx="1"/>
            <a:endCxn id="617" idx="1"/>
          </p:cNvCxnSpPr>
          <p:nvPr/>
        </p:nvCxnSpPr>
        <p:spPr>
          <a:xfrm>
            <a:off x="1697495" y="3878018"/>
            <a:ext cx="456714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623" name="Google Shape;623;p38"/>
          <p:cNvSpPr txBox="1"/>
          <p:nvPr/>
        </p:nvSpPr>
        <p:spPr>
          <a:xfrm>
            <a:off x="131615" y="1233661"/>
            <a:ext cx="750179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nrope"/>
              </a:rPr>
              <a:t>Per ogni singolo candidato estratto, l'algoritmo calcola un vettore di proprietà spaziali e radiologiche:</a:t>
            </a:r>
            <a:endParaRPr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anrope"/>
            </a:endParaRPr>
          </a:p>
        </p:txBody>
      </p:sp>
      <p:sp>
        <p:nvSpPr>
          <p:cNvPr id="12" name="Google Shape;613;p38">
            <a:extLst>
              <a:ext uri="{FF2B5EF4-FFF2-40B4-BE49-F238E27FC236}">
                <a16:creationId xmlns:a16="http://schemas.microsoft.com/office/drawing/2014/main" id="{5B54EE48-F947-9646-7D19-C5C8301D900A}"/>
              </a:ext>
            </a:extLst>
          </p:cNvPr>
          <p:cNvSpPr txBox="1"/>
          <p:nvPr/>
        </p:nvSpPr>
        <p:spPr>
          <a:xfrm flipH="1">
            <a:off x="263232" y="2168287"/>
            <a:ext cx="1434263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chivo"/>
              </a:rPr>
              <a:t>Area</a:t>
            </a:r>
            <a:endParaRPr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chivo"/>
            </a:endParaRPr>
          </a:p>
        </p:txBody>
      </p:sp>
      <p:sp>
        <p:nvSpPr>
          <p:cNvPr id="14" name="Google Shape;613;p38">
            <a:extLst>
              <a:ext uri="{FF2B5EF4-FFF2-40B4-BE49-F238E27FC236}">
                <a16:creationId xmlns:a16="http://schemas.microsoft.com/office/drawing/2014/main" id="{819E8ADC-216D-897A-16C5-7F6E2A076DE0}"/>
              </a:ext>
            </a:extLst>
          </p:cNvPr>
          <p:cNvSpPr txBox="1"/>
          <p:nvPr/>
        </p:nvSpPr>
        <p:spPr>
          <a:xfrm flipH="1">
            <a:off x="4654361" y="2181780"/>
            <a:ext cx="1434263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 b="1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chivo"/>
              </a:rPr>
              <a:t>Solidity</a:t>
            </a:r>
            <a:endParaRPr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chivo"/>
            </a:endParaRPr>
          </a:p>
        </p:txBody>
      </p:sp>
      <p:sp>
        <p:nvSpPr>
          <p:cNvPr id="15" name="Google Shape;613;p38">
            <a:extLst>
              <a:ext uri="{FF2B5EF4-FFF2-40B4-BE49-F238E27FC236}">
                <a16:creationId xmlns:a16="http://schemas.microsoft.com/office/drawing/2014/main" id="{BA9A9BCD-77D8-4E2F-8993-7BF2F7C46968}"/>
              </a:ext>
            </a:extLst>
          </p:cNvPr>
          <p:cNvSpPr txBox="1"/>
          <p:nvPr/>
        </p:nvSpPr>
        <p:spPr>
          <a:xfrm flipH="1">
            <a:off x="4667460" y="3591668"/>
            <a:ext cx="1434263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chivo"/>
              </a:rPr>
              <a:t>Intensità Media</a:t>
            </a:r>
            <a:endParaRPr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chiv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">
          <a:extLst>
            <a:ext uri="{FF2B5EF4-FFF2-40B4-BE49-F238E27FC236}">
              <a16:creationId xmlns:a16="http://schemas.microsoft.com/office/drawing/2014/main" id="{35EF1465-CBED-C938-C295-450B7DE54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51">
            <a:extLst>
              <a:ext uri="{FF2B5EF4-FFF2-40B4-BE49-F238E27FC236}">
                <a16:creationId xmlns:a16="http://schemas.microsoft.com/office/drawing/2014/main" id="{DC2CFE56-CF6C-13F2-BEB2-886D6BA549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2152" y="201197"/>
            <a:ext cx="826096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Coerenza Tubolare: Il Filtro 2.5D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571;p37">
            <a:extLst>
              <a:ext uri="{FF2B5EF4-FFF2-40B4-BE49-F238E27FC236}">
                <a16:creationId xmlns:a16="http://schemas.microsoft.com/office/drawing/2014/main" id="{DC16BC4C-592C-DD87-F544-9D82B52295BA}"/>
              </a:ext>
            </a:extLst>
          </p:cNvPr>
          <p:cNvSpPr/>
          <p:nvPr/>
        </p:nvSpPr>
        <p:spPr>
          <a:xfrm>
            <a:off x="151101" y="3699886"/>
            <a:ext cx="193681" cy="202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978;p51">
            <a:extLst>
              <a:ext uri="{FF2B5EF4-FFF2-40B4-BE49-F238E27FC236}">
                <a16:creationId xmlns:a16="http://schemas.microsoft.com/office/drawing/2014/main" id="{CC9027DC-E095-9C9E-9989-7410B9C5AFA3}"/>
              </a:ext>
            </a:extLst>
          </p:cNvPr>
          <p:cNvSpPr txBox="1">
            <a:spLocks/>
          </p:cNvSpPr>
          <p:nvPr/>
        </p:nvSpPr>
        <p:spPr>
          <a:xfrm>
            <a:off x="344782" y="3608795"/>
            <a:ext cx="8078337" cy="29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it-IT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L'Ambiguità del 2D: 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una singola fetta trasversale, un vaso sanguigno tagliato perpendicolarmente risulta geometricamente indistinguibile da un nodulo sferico.</a:t>
            </a:r>
            <a:endParaRPr lang="it-IT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Google Shape;571;p37">
            <a:extLst>
              <a:ext uri="{FF2B5EF4-FFF2-40B4-BE49-F238E27FC236}">
                <a16:creationId xmlns:a16="http://schemas.microsoft.com/office/drawing/2014/main" id="{90E327BE-8F0B-8261-3B3A-A18957C28C6C}"/>
              </a:ext>
            </a:extLst>
          </p:cNvPr>
          <p:cNvSpPr/>
          <p:nvPr/>
        </p:nvSpPr>
        <p:spPr>
          <a:xfrm>
            <a:off x="151101" y="4192354"/>
            <a:ext cx="193681" cy="202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" name="Google Shape;571;p37">
            <a:extLst>
              <a:ext uri="{FF2B5EF4-FFF2-40B4-BE49-F238E27FC236}">
                <a16:creationId xmlns:a16="http://schemas.microsoft.com/office/drawing/2014/main" id="{E18107D5-F72D-EF44-EB79-CE5515688526}"/>
              </a:ext>
            </a:extLst>
          </p:cNvPr>
          <p:cNvSpPr/>
          <p:nvPr/>
        </p:nvSpPr>
        <p:spPr>
          <a:xfrm>
            <a:off x="140050" y="4593385"/>
            <a:ext cx="180051" cy="202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" name="Google Shape;978;p51">
            <a:extLst>
              <a:ext uri="{FF2B5EF4-FFF2-40B4-BE49-F238E27FC236}">
                <a16:creationId xmlns:a16="http://schemas.microsoft.com/office/drawing/2014/main" id="{D7BE0D3A-8E27-B50D-369C-525614258530}"/>
              </a:ext>
            </a:extLst>
          </p:cNvPr>
          <p:cNvSpPr txBox="1">
            <a:spLocks/>
          </p:cNvSpPr>
          <p:nvPr/>
        </p:nvSpPr>
        <p:spPr>
          <a:xfrm>
            <a:off x="339757" y="4111130"/>
            <a:ext cx="8078337" cy="29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it-IT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L'Approccio Pseudo-3D: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L'algoritmo proietta le coordinate del candidato sulle fette adiacenti.</a:t>
            </a:r>
            <a:endParaRPr lang="it-IT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Google Shape;978;p51">
            <a:extLst>
              <a:ext uri="{FF2B5EF4-FFF2-40B4-BE49-F238E27FC236}">
                <a16:creationId xmlns:a16="http://schemas.microsoft.com/office/drawing/2014/main" id="{246141A1-AECE-4670-4203-A42B28029098}"/>
              </a:ext>
            </a:extLst>
          </p:cNvPr>
          <p:cNvSpPr txBox="1">
            <a:spLocks/>
          </p:cNvSpPr>
          <p:nvPr/>
        </p:nvSpPr>
        <p:spPr>
          <a:xfrm>
            <a:off x="333730" y="4504445"/>
            <a:ext cx="7509845" cy="29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it-IT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Penalità Spaziale: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la frazione di tessuto solido si mantiene costante su più slice, la struttura viene classificata come tubolare (vaso) e lo Score subisce una severa penalizzazione (-90%).</a:t>
            </a:r>
            <a:endParaRPr lang="it-IT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DE46C4-DBA1-6201-D4FE-2CA5034A7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009" y="1025214"/>
            <a:ext cx="5223151" cy="242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055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>
          <a:extLst>
            <a:ext uri="{FF2B5EF4-FFF2-40B4-BE49-F238E27FC236}">
              <a16:creationId xmlns:a16="http://schemas.microsoft.com/office/drawing/2014/main" id="{543C52C3-9312-0798-C52D-B3595633E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8" name="Google Shape;788;p43">
            <a:extLst>
              <a:ext uri="{FF2B5EF4-FFF2-40B4-BE49-F238E27FC236}">
                <a16:creationId xmlns:a16="http://schemas.microsoft.com/office/drawing/2014/main" id="{6ADB58B4-5913-0118-7E82-965EDF44B5BD}"/>
              </a:ext>
            </a:extLst>
          </p:cNvPr>
          <p:cNvGrpSpPr/>
          <p:nvPr/>
        </p:nvGrpSpPr>
        <p:grpSpPr>
          <a:xfrm>
            <a:off x="4643690" y="-2084"/>
            <a:ext cx="4591750" cy="4466709"/>
            <a:chOff x="4643689" y="-2084"/>
            <a:chExt cx="4500311" cy="4466709"/>
          </a:xfrm>
        </p:grpSpPr>
        <p:sp>
          <p:nvSpPr>
            <p:cNvPr id="789" name="Google Shape;789;p43">
              <a:extLst>
                <a:ext uri="{FF2B5EF4-FFF2-40B4-BE49-F238E27FC236}">
                  <a16:creationId xmlns:a16="http://schemas.microsoft.com/office/drawing/2014/main" id="{61E269C0-2B29-A405-BFA3-AAB54809A579}"/>
                </a:ext>
              </a:extLst>
            </p:cNvPr>
            <p:cNvSpPr/>
            <p:nvPr/>
          </p:nvSpPr>
          <p:spPr>
            <a:xfrm rot="10800000">
              <a:off x="4714200" y="-2084"/>
              <a:ext cx="4429800" cy="43671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3">
              <a:extLst>
                <a:ext uri="{FF2B5EF4-FFF2-40B4-BE49-F238E27FC236}">
                  <a16:creationId xmlns:a16="http://schemas.microsoft.com/office/drawing/2014/main" id="{689DE611-344C-CCDF-5AA6-3568D12AF532}"/>
                </a:ext>
              </a:extLst>
            </p:cNvPr>
            <p:cNvSpPr/>
            <p:nvPr/>
          </p:nvSpPr>
          <p:spPr>
            <a:xfrm rot="-8100000" flipH="1">
              <a:off x="7675121" y="3729952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3">
              <a:extLst>
                <a:ext uri="{FF2B5EF4-FFF2-40B4-BE49-F238E27FC236}">
                  <a16:creationId xmlns:a16="http://schemas.microsoft.com/office/drawing/2014/main" id="{08994C79-136C-FBED-F458-529DDD080874}"/>
                </a:ext>
              </a:extLst>
            </p:cNvPr>
            <p:cNvSpPr/>
            <p:nvPr/>
          </p:nvSpPr>
          <p:spPr>
            <a:xfrm rot="-8100410" flipH="1">
              <a:off x="4984509" y="1546455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3">
              <a:extLst>
                <a:ext uri="{FF2B5EF4-FFF2-40B4-BE49-F238E27FC236}">
                  <a16:creationId xmlns:a16="http://schemas.microsoft.com/office/drawing/2014/main" id="{3D8A3480-8D7F-69A7-2579-325CF794C6A3}"/>
                </a:ext>
              </a:extLst>
            </p:cNvPr>
            <p:cNvSpPr/>
            <p:nvPr/>
          </p:nvSpPr>
          <p:spPr>
            <a:xfrm rot="-8100410" flipH="1">
              <a:off x="7108289" y="2729006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3">
              <a:extLst>
                <a:ext uri="{FF2B5EF4-FFF2-40B4-BE49-F238E27FC236}">
                  <a16:creationId xmlns:a16="http://schemas.microsoft.com/office/drawing/2014/main" id="{14C59D2E-A58F-E2F3-6516-BCA0D1E78997}"/>
                </a:ext>
              </a:extLst>
            </p:cNvPr>
            <p:cNvSpPr/>
            <p:nvPr/>
          </p:nvSpPr>
          <p:spPr>
            <a:xfrm rot="-8100410" flipH="1">
              <a:off x="6792716" y="3427614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3">
              <a:extLst>
                <a:ext uri="{FF2B5EF4-FFF2-40B4-BE49-F238E27FC236}">
                  <a16:creationId xmlns:a16="http://schemas.microsoft.com/office/drawing/2014/main" id="{033C4C61-1849-B9A8-EFBD-1EA70651DC37}"/>
                </a:ext>
              </a:extLst>
            </p:cNvPr>
            <p:cNvSpPr/>
            <p:nvPr/>
          </p:nvSpPr>
          <p:spPr>
            <a:xfrm rot="-8100410" flipH="1">
              <a:off x="5127485" y="821159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3">
              <a:extLst>
                <a:ext uri="{FF2B5EF4-FFF2-40B4-BE49-F238E27FC236}">
                  <a16:creationId xmlns:a16="http://schemas.microsoft.com/office/drawing/2014/main" id="{4A251F98-1221-B723-25E5-753B170DA778}"/>
                </a:ext>
              </a:extLst>
            </p:cNvPr>
            <p:cNvSpPr/>
            <p:nvPr/>
          </p:nvSpPr>
          <p:spPr>
            <a:xfrm rot="10800000" flipH="1">
              <a:off x="4643689" y="736759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7" name="Google Shape;797;p43">
            <a:extLst>
              <a:ext uri="{FF2B5EF4-FFF2-40B4-BE49-F238E27FC236}">
                <a16:creationId xmlns:a16="http://schemas.microsoft.com/office/drawing/2014/main" id="{71F17327-1C15-7E45-124F-2116BCFE3B29}"/>
              </a:ext>
            </a:extLst>
          </p:cNvPr>
          <p:cNvSpPr/>
          <p:nvPr/>
        </p:nvSpPr>
        <p:spPr>
          <a:xfrm rot="-8100000" flipH="1">
            <a:off x="6246084" y="805971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87;p43">
            <a:extLst>
              <a:ext uri="{FF2B5EF4-FFF2-40B4-BE49-F238E27FC236}">
                <a16:creationId xmlns:a16="http://schemas.microsoft.com/office/drawing/2014/main" id="{731EEE4E-A07A-EAD6-5E6A-5069F3F57DFA}"/>
              </a:ext>
            </a:extLst>
          </p:cNvPr>
          <p:cNvSpPr txBox="1">
            <a:spLocks/>
          </p:cNvSpPr>
          <p:nvPr/>
        </p:nvSpPr>
        <p:spPr>
          <a:xfrm>
            <a:off x="91328" y="303459"/>
            <a:ext cx="4966212" cy="7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indent="0"/>
            <a:r>
              <a:rPr lang="it-IT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Contrasto Locale: Il calcolo dell'Halo Score</a:t>
            </a:r>
            <a:endParaRPr lang="en-US" sz="2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Google Shape;718;p41">
            <a:extLst>
              <a:ext uri="{FF2B5EF4-FFF2-40B4-BE49-F238E27FC236}">
                <a16:creationId xmlns:a16="http://schemas.microsoft.com/office/drawing/2014/main" id="{1732A4ED-735E-A1D9-1EF3-26DF6DD0AED1}"/>
              </a:ext>
            </a:extLst>
          </p:cNvPr>
          <p:cNvSpPr/>
          <p:nvPr/>
        </p:nvSpPr>
        <p:spPr>
          <a:xfrm>
            <a:off x="116335" y="1810787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718;p41">
            <a:extLst>
              <a:ext uri="{FF2B5EF4-FFF2-40B4-BE49-F238E27FC236}">
                <a16:creationId xmlns:a16="http://schemas.microsoft.com/office/drawing/2014/main" id="{37A9BCBB-5EC8-99F8-4A10-71CB64CA2EE9}"/>
              </a:ext>
            </a:extLst>
          </p:cNvPr>
          <p:cNvSpPr/>
          <p:nvPr/>
        </p:nvSpPr>
        <p:spPr>
          <a:xfrm>
            <a:off x="116335" y="2699906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718;p41">
            <a:extLst>
              <a:ext uri="{FF2B5EF4-FFF2-40B4-BE49-F238E27FC236}">
                <a16:creationId xmlns:a16="http://schemas.microsoft.com/office/drawing/2014/main" id="{F54BBD44-29BB-F93B-31F4-AA284974B013}"/>
              </a:ext>
            </a:extLst>
          </p:cNvPr>
          <p:cNvSpPr/>
          <p:nvPr/>
        </p:nvSpPr>
        <p:spPr>
          <a:xfrm>
            <a:off x="116891" y="3539199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" name="Google Shape;726;p41">
            <a:extLst>
              <a:ext uri="{FF2B5EF4-FFF2-40B4-BE49-F238E27FC236}">
                <a16:creationId xmlns:a16="http://schemas.microsoft.com/office/drawing/2014/main" id="{9A706296-6D18-7597-C7B9-71AF230E1931}"/>
              </a:ext>
            </a:extLst>
          </p:cNvPr>
          <p:cNvSpPr txBox="1">
            <a:spLocks/>
          </p:cNvSpPr>
          <p:nvPr/>
        </p:nvSpPr>
        <p:spPr>
          <a:xfrm>
            <a:off x="400824" y="3713837"/>
            <a:ext cx="4171176" cy="54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Valutazione (0.0 - 1.0):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Viene calcolata l'intensità media nell'anello. Valori prossimi a -1000 HU (aria) generano un punteggio alto (1.0).</a:t>
            </a:r>
          </a:p>
        </p:txBody>
      </p:sp>
      <p:sp>
        <p:nvSpPr>
          <p:cNvPr id="14" name="Google Shape;726;p41">
            <a:extLst>
              <a:ext uri="{FF2B5EF4-FFF2-40B4-BE49-F238E27FC236}">
                <a16:creationId xmlns:a16="http://schemas.microsoft.com/office/drawing/2014/main" id="{418F3B29-DA70-254A-B0EF-A110ECC58247}"/>
              </a:ext>
            </a:extLst>
          </p:cNvPr>
          <p:cNvSpPr txBox="1">
            <a:spLocks/>
          </p:cNvSpPr>
          <p:nvPr/>
        </p:nvSpPr>
        <p:spPr>
          <a:xfrm>
            <a:off x="400824" y="1724891"/>
            <a:ext cx="3838913" cy="781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Necessità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Clinica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nodulo maligno solido appare spesso isolato nel parenchima, circondato da aria.</a:t>
            </a:r>
          </a:p>
        </p:txBody>
      </p:sp>
      <p:sp>
        <p:nvSpPr>
          <p:cNvPr id="15" name="Google Shape;726;p41">
            <a:extLst>
              <a:ext uri="{FF2B5EF4-FFF2-40B4-BE49-F238E27FC236}">
                <a16:creationId xmlns:a16="http://schemas.microsoft.com/office/drawing/2014/main" id="{F2B2CB1D-3071-766A-D8BD-251238D83314}"/>
              </a:ext>
            </a:extLst>
          </p:cNvPr>
          <p:cNvSpPr txBox="1">
            <a:spLocks/>
          </p:cNvSpPr>
          <p:nvPr/>
        </p:nvSpPr>
        <p:spPr>
          <a:xfrm>
            <a:off x="414740" y="2681674"/>
            <a:ext cx="4249264" cy="54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Costruzione dell'Anello: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L'algoritmo dilata la maschera del candidato per creare un anello esplorativo esterno</a:t>
            </a: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2BFB3CA3-0447-8483-6BB2-AF5D115D13CD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4725" r="14725"/>
          <a:stretch>
            <a:fillRect/>
          </a:stretch>
        </p:blipFill>
        <p:spPr>
          <a:prstGeom prst="ellipse">
            <a:avLst/>
          </a:prstGeom>
          <a:noFill/>
          <a:ln w="381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50E9D7-A2EB-5FE4-BD19-ADDCB8C578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848" t="1456" r="47986" b="1442"/>
          <a:stretch>
            <a:fillRect/>
          </a:stretch>
        </p:blipFill>
        <p:spPr>
          <a:xfrm>
            <a:off x="8673205" y="256099"/>
            <a:ext cx="165529" cy="2528887"/>
          </a:xfrm>
          <a:prstGeom prst="rect">
            <a:avLst/>
          </a:prstGeom>
        </p:spPr>
      </p:pic>
      <p:sp>
        <p:nvSpPr>
          <p:cNvPr id="21" name="Google Shape;726;p41">
            <a:extLst>
              <a:ext uri="{FF2B5EF4-FFF2-40B4-BE49-F238E27FC236}">
                <a16:creationId xmlns:a16="http://schemas.microsoft.com/office/drawing/2014/main" id="{DAC2C05E-98F4-89D9-E4BA-7FE38309DFFF}"/>
              </a:ext>
            </a:extLst>
          </p:cNvPr>
          <p:cNvSpPr txBox="1">
            <a:spLocks/>
          </p:cNvSpPr>
          <p:nvPr/>
        </p:nvSpPr>
        <p:spPr>
          <a:xfrm>
            <a:off x="8825290" y="2699536"/>
            <a:ext cx="238932" cy="24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endParaRPr lang="it-IT" sz="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r>
              <a:rPr lang="it-IT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it-IT" sz="900" b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Google Shape;726;p41">
            <a:extLst>
              <a:ext uri="{FF2B5EF4-FFF2-40B4-BE49-F238E27FC236}">
                <a16:creationId xmlns:a16="http://schemas.microsoft.com/office/drawing/2014/main" id="{ACFCA5E7-EE5F-44C2-3088-71AC4233A64E}"/>
              </a:ext>
            </a:extLst>
          </p:cNvPr>
          <p:cNvSpPr txBox="1">
            <a:spLocks/>
          </p:cNvSpPr>
          <p:nvPr/>
        </p:nvSpPr>
        <p:spPr>
          <a:xfrm>
            <a:off x="8833128" y="2441154"/>
            <a:ext cx="343124" cy="24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endParaRPr lang="it-IT" sz="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r>
              <a:rPr lang="it-IT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0.1</a:t>
            </a:r>
            <a:endParaRPr lang="it-IT" sz="900" b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Google Shape;726;p41">
            <a:extLst>
              <a:ext uri="{FF2B5EF4-FFF2-40B4-BE49-F238E27FC236}">
                <a16:creationId xmlns:a16="http://schemas.microsoft.com/office/drawing/2014/main" id="{43C44F2B-13A3-3806-C1D6-71940737AE06}"/>
              </a:ext>
            </a:extLst>
          </p:cNvPr>
          <p:cNvSpPr txBox="1">
            <a:spLocks/>
          </p:cNvSpPr>
          <p:nvPr/>
        </p:nvSpPr>
        <p:spPr>
          <a:xfrm>
            <a:off x="8833128" y="2196951"/>
            <a:ext cx="343124" cy="24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endParaRPr lang="it-IT" sz="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r>
              <a:rPr lang="it-IT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0.2</a:t>
            </a:r>
            <a:endParaRPr lang="it-IT" sz="900" b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Google Shape;726;p41">
            <a:extLst>
              <a:ext uri="{FF2B5EF4-FFF2-40B4-BE49-F238E27FC236}">
                <a16:creationId xmlns:a16="http://schemas.microsoft.com/office/drawing/2014/main" id="{88B5DD2F-B1E2-7CCD-622F-20FC5DF9B6EE}"/>
              </a:ext>
            </a:extLst>
          </p:cNvPr>
          <p:cNvSpPr txBox="1">
            <a:spLocks/>
          </p:cNvSpPr>
          <p:nvPr/>
        </p:nvSpPr>
        <p:spPr>
          <a:xfrm>
            <a:off x="8833127" y="1940033"/>
            <a:ext cx="343123" cy="24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endParaRPr lang="it-IT" sz="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r>
              <a:rPr lang="it-IT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0.3</a:t>
            </a:r>
            <a:endParaRPr lang="it-IT" sz="900" b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Google Shape;726;p41">
            <a:extLst>
              <a:ext uri="{FF2B5EF4-FFF2-40B4-BE49-F238E27FC236}">
                <a16:creationId xmlns:a16="http://schemas.microsoft.com/office/drawing/2014/main" id="{BAEBC1D6-E07F-9D86-A0D7-3AAD9A62C226}"/>
              </a:ext>
            </a:extLst>
          </p:cNvPr>
          <p:cNvSpPr txBox="1">
            <a:spLocks/>
          </p:cNvSpPr>
          <p:nvPr/>
        </p:nvSpPr>
        <p:spPr>
          <a:xfrm>
            <a:off x="8830020" y="1700593"/>
            <a:ext cx="343122" cy="24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endParaRPr lang="it-IT" sz="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r>
              <a:rPr lang="it-IT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0.4</a:t>
            </a:r>
            <a:endParaRPr lang="it-IT" sz="900" b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Google Shape;726;p41">
            <a:extLst>
              <a:ext uri="{FF2B5EF4-FFF2-40B4-BE49-F238E27FC236}">
                <a16:creationId xmlns:a16="http://schemas.microsoft.com/office/drawing/2014/main" id="{F778B5FC-74D8-B48C-48C5-65996D17192E}"/>
              </a:ext>
            </a:extLst>
          </p:cNvPr>
          <p:cNvSpPr txBox="1">
            <a:spLocks/>
          </p:cNvSpPr>
          <p:nvPr/>
        </p:nvSpPr>
        <p:spPr>
          <a:xfrm>
            <a:off x="8830019" y="1433227"/>
            <a:ext cx="343121" cy="24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endParaRPr lang="it-IT" sz="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r>
              <a:rPr lang="it-IT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0.5</a:t>
            </a:r>
            <a:endParaRPr lang="it-IT" sz="900" b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Google Shape;726;p41">
            <a:extLst>
              <a:ext uri="{FF2B5EF4-FFF2-40B4-BE49-F238E27FC236}">
                <a16:creationId xmlns:a16="http://schemas.microsoft.com/office/drawing/2014/main" id="{B571E39A-736D-25DC-5925-A283CBE709BF}"/>
              </a:ext>
            </a:extLst>
          </p:cNvPr>
          <p:cNvSpPr txBox="1">
            <a:spLocks/>
          </p:cNvSpPr>
          <p:nvPr/>
        </p:nvSpPr>
        <p:spPr>
          <a:xfrm>
            <a:off x="8838734" y="1189024"/>
            <a:ext cx="334406" cy="24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endParaRPr lang="it-IT" sz="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r>
              <a:rPr lang="it-IT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0.6</a:t>
            </a:r>
            <a:endParaRPr lang="it-IT" sz="900" b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Google Shape;726;p41">
            <a:extLst>
              <a:ext uri="{FF2B5EF4-FFF2-40B4-BE49-F238E27FC236}">
                <a16:creationId xmlns:a16="http://schemas.microsoft.com/office/drawing/2014/main" id="{F9C5312F-47E9-4C62-2E68-2C5FD2DF744F}"/>
              </a:ext>
            </a:extLst>
          </p:cNvPr>
          <p:cNvSpPr txBox="1">
            <a:spLocks/>
          </p:cNvSpPr>
          <p:nvPr/>
        </p:nvSpPr>
        <p:spPr>
          <a:xfrm>
            <a:off x="8830020" y="921658"/>
            <a:ext cx="343120" cy="24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endParaRPr lang="it-IT" sz="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r>
              <a:rPr lang="it-IT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0.7</a:t>
            </a:r>
            <a:endParaRPr lang="it-IT" sz="900" b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Google Shape;726;p41">
            <a:extLst>
              <a:ext uri="{FF2B5EF4-FFF2-40B4-BE49-F238E27FC236}">
                <a16:creationId xmlns:a16="http://schemas.microsoft.com/office/drawing/2014/main" id="{58FF5186-8930-D257-F1ED-B131596A97F9}"/>
              </a:ext>
            </a:extLst>
          </p:cNvPr>
          <p:cNvSpPr txBox="1">
            <a:spLocks/>
          </p:cNvSpPr>
          <p:nvPr/>
        </p:nvSpPr>
        <p:spPr>
          <a:xfrm>
            <a:off x="8830019" y="674374"/>
            <a:ext cx="343119" cy="24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endParaRPr lang="it-IT" sz="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r>
              <a:rPr lang="it-IT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0.8</a:t>
            </a:r>
            <a:endParaRPr lang="it-IT" sz="900" b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Google Shape;726;p41">
            <a:extLst>
              <a:ext uri="{FF2B5EF4-FFF2-40B4-BE49-F238E27FC236}">
                <a16:creationId xmlns:a16="http://schemas.microsoft.com/office/drawing/2014/main" id="{1989C139-A57C-F473-6590-AC2DE022AFF1}"/>
              </a:ext>
            </a:extLst>
          </p:cNvPr>
          <p:cNvSpPr txBox="1">
            <a:spLocks/>
          </p:cNvSpPr>
          <p:nvPr/>
        </p:nvSpPr>
        <p:spPr>
          <a:xfrm>
            <a:off x="8825290" y="414852"/>
            <a:ext cx="343118" cy="24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endParaRPr lang="it-IT" sz="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r>
              <a:rPr lang="it-IT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0.9</a:t>
            </a:r>
            <a:endParaRPr lang="it-IT" sz="900" b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Google Shape;726;p41">
            <a:extLst>
              <a:ext uri="{FF2B5EF4-FFF2-40B4-BE49-F238E27FC236}">
                <a16:creationId xmlns:a16="http://schemas.microsoft.com/office/drawing/2014/main" id="{F60043A8-3A81-7F3D-EDCC-307C4AE1BEAA}"/>
              </a:ext>
            </a:extLst>
          </p:cNvPr>
          <p:cNvSpPr txBox="1">
            <a:spLocks/>
          </p:cNvSpPr>
          <p:nvPr/>
        </p:nvSpPr>
        <p:spPr>
          <a:xfrm>
            <a:off x="8825290" y="175412"/>
            <a:ext cx="238932" cy="24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endParaRPr lang="it-IT" sz="800" b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r>
              <a:rPr lang="it-IT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73FFB2-843B-8EFF-55D8-A48D9A8DA85F}"/>
              </a:ext>
            </a:extLst>
          </p:cNvPr>
          <p:cNvSpPr/>
          <p:nvPr/>
        </p:nvSpPr>
        <p:spPr>
          <a:xfrm>
            <a:off x="8545106" y="105207"/>
            <a:ext cx="583810" cy="2760827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5661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">
          <a:extLst>
            <a:ext uri="{FF2B5EF4-FFF2-40B4-BE49-F238E27FC236}">
              <a16:creationId xmlns:a16="http://schemas.microsoft.com/office/drawing/2014/main" id="{5C600997-20E4-2734-43EC-AA5C7C238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51">
            <a:extLst>
              <a:ext uri="{FF2B5EF4-FFF2-40B4-BE49-F238E27FC236}">
                <a16:creationId xmlns:a16="http://schemas.microsoft.com/office/drawing/2014/main" id="{C0A35D35-F7E5-34DF-14BA-811B7145B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1844" y="480146"/>
            <a:ext cx="826096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Funzione di Scoring Deterministica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571;p37">
            <a:extLst>
              <a:ext uri="{FF2B5EF4-FFF2-40B4-BE49-F238E27FC236}">
                <a16:creationId xmlns:a16="http://schemas.microsoft.com/office/drawing/2014/main" id="{A0FB9580-1C9B-E8C5-EDA1-012050E371E8}"/>
              </a:ext>
            </a:extLst>
          </p:cNvPr>
          <p:cNvSpPr/>
          <p:nvPr/>
        </p:nvSpPr>
        <p:spPr>
          <a:xfrm>
            <a:off x="201844" y="3644180"/>
            <a:ext cx="193681" cy="202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978;p51">
            <a:extLst>
              <a:ext uri="{FF2B5EF4-FFF2-40B4-BE49-F238E27FC236}">
                <a16:creationId xmlns:a16="http://schemas.microsoft.com/office/drawing/2014/main" id="{6E00168E-CB71-0819-EC50-4203D8355DE6}"/>
              </a:ext>
            </a:extLst>
          </p:cNvPr>
          <p:cNvSpPr txBox="1">
            <a:spLocks/>
          </p:cNvSpPr>
          <p:nvPr/>
        </p:nvSpPr>
        <p:spPr>
          <a:xfrm>
            <a:off x="395525" y="3553089"/>
            <a:ext cx="8078337" cy="29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it-IT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Area Limitata: 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L'area viene saturata per evitare che enormi falsi positivi dominino la classifica.</a:t>
            </a:r>
            <a:endParaRPr lang="it-IT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Google Shape;571;p37">
            <a:extLst>
              <a:ext uri="{FF2B5EF4-FFF2-40B4-BE49-F238E27FC236}">
                <a16:creationId xmlns:a16="http://schemas.microsoft.com/office/drawing/2014/main" id="{D88CC416-2FAD-A83A-579E-96F7C36DAED2}"/>
              </a:ext>
            </a:extLst>
          </p:cNvPr>
          <p:cNvSpPr/>
          <p:nvPr/>
        </p:nvSpPr>
        <p:spPr>
          <a:xfrm>
            <a:off x="206868" y="4036978"/>
            <a:ext cx="193681" cy="202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" name="Google Shape;571;p37">
            <a:extLst>
              <a:ext uri="{FF2B5EF4-FFF2-40B4-BE49-F238E27FC236}">
                <a16:creationId xmlns:a16="http://schemas.microsoft.com/office/drawing/2014/main" id="{439CAB3C-A351-F1B9-164F-FD892FD7BAFB}"/>
              </a:ext>
            </a:extLst>
          </p:cNvPr>
          <p:cNvSpPr/>
          <p:nvPr/>
        </p:nvSpPr>
        <p:spPr>
          <a:xfrm>
            <a:off x="201844" y="4429776"/>
            <a:ext cx="193681" cy="202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" name="Google Shape;978;p51">
            <a:extLst>
              <a:ext uri="{FF2B5EF4-FFF2-40B4-BE49-F238E27FC236}">
                <a16:creationId xmlns:a16="http://schemas.microsoft.com/office/drawing/2014/main" id="{56656D0C-A5C6-1A11-CDF4-968C240F56DA}"/>
              </a:ext>
            </a:extLst>
          </p:cNvPr>
          <p:cNvSpPr txBox="1">
            <a:spLocks/>
          </p:cNvSpPr>
          <p:nvPr/>
        </p:nvSpPr>
        <p:spPr>
          <a:xfrm>
            <a:off x="395524" y="3955754"/>
            <a:ext cx="8078337" cy="29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it-IT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Potenza sulla </a:t>
            </a:r>
            <a:r>
              <a:rPr lang="it-IT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Solidity</a:t>
            </a:r>
            <a:r>
              <a:rPr lang="it-IT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Eleva al quadrato/cubo l'importanza della compattezza sferica.</a:t>
            </a:r>
            <a:endParaRPr lang="it-IT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Google Shape;978;p51">
            <a:extLst>
              <a:ext uri="{FF2B5EF4-FFF2-40B4-BE49-F238E27FC236}">
                <a16:creationId xmlns:a16="http://schemas.microsoft.com/office/drawing/2014/main" id="{2183B619-EFEA-FB5A-352C-810AF643D669}"/>
              </a:ext>
            </a:extLst>
          </p:cNvPr>
          <p:cNvSpPr txBox="1">
            <a:spLocks/>
          </p:cNvSpPr>
          <p:nvPr/>
        </p:nvSpPr>
        <p:spPr>
          <a:xfrm>
            <a:off x="395525" y="4340836"/>
            <a:ext cx="7716312" cy="29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it-IT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Moltiplicatore Dinamico: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bonus calcolato in base all'Halo Score o alla natura </a:t>
            </a:r>
            <a:r>
              <a:rPr lang="it-IT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juxtapleurica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candidato.</a:t>
            </a:r>
            <a:endParaRPr lang="it-IT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Google Shape;726;p41">
            <a:extLst>
              <a:ext uri="{FF2B5EF4-FFF2-40B4-BE49-F238E27FC236}">
                <a16:creationId xmlns:a16="http://schemas.microsoft.com/office/drawing/2014/main" id="{7BCCE842-F430-B43F-B0E6-05B3BDB84F1D}"/>
              </a:ext>
            </a:extLst>
          </p:cNvPr>
          <p:cNvSpPr txBox="1">
            <a:spLocks/>
          </p:cNvSpPr>
          <p:nvPr/>
        </p:nvSpPr>
        <p:spPr>
          <a:xfrm>
            <a:off x="201844" y="1370885"/>
            <a:ext cx="8359120" cy="529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candidati sopravvissuti ai filtri di esclusione rigida vengono classificati tramite una funzione empirica che combina le feature estratte, premiando la compattezza e la grandezza controllata: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3926CD1-27DB-241A-FB89-5754801F4B70}"/>
                  </a:ext>
                </a:extLst>
              </p:cNvPr>
              <p:cNvSpPr txBox="1"/>
              <p:nvPr/>
            </p:nvSpPr>
            <p:spPr>
              <a:xfrm>
                <a:off x="1129146" y="2527106"/>
                <a:ext cx="5265609" cy="3539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chivo Black"/>
                        </a:rPr>
                        <m:t>𝑺𝒄𝒐𝒓𝒆</m:t>
                      </m:r>
                      <m:r>
                        <a:rPr lang="it-IT" sz="20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chivo Black"/>
                        </a:rPr>
                        <m:t> = </m:t>
                      </m:r>
                      <m:sSub>
                        <m:sSubPr>
                          <m:ctrlPr>
                            <a:rPr lang="it-IT" sz="20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Archivo Black"/>
                            </a:rPr>
                          </m:ctrlPr>
                        </m:sSubPr>
                        <m:e>
                          <m:r>
                            <a:rPr lang="it-IT" sz="20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Archivo Black"/>
                            </a:rPr>
                            <m:t>𝑨𝒓𝒆𝒂</m:t>
                          </m:r>
                        </m:e>
                        <m:sub>
                          <m:r>
                            <a:rPr lang="it-IT" sz="20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Archivo Black"/>
                            </a:rPr>
                            <m:t>𝒄𝒂𝒑</m:t>
                          </m:r>
                        </m:sub>
                      </m:sSub>
                      <m:r>
                        <a:rPr lang="it-IT" sz="20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chivo Black"/>
                        </a:rPr>
                        <m:t> </m:t>
                      </m:r>
                      <m:sSup>
                        <m:sSupPr>
                          <m:ctrlPr>
                            <a:rPr lang="it-IT" sz="2000" b="1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Archivo Black"/>
                            </a:rPr>
                          </m:ctrlPr>
                        </m:sSupPr>
                        <m:e>
                          <m:r>
                            <a:rPr lang="it-IT" sz="2000" b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Archivo Black"/>
                            </a:rPr>
                            <m:t>×</m:t>
                          </m:r>
                          <m:r>
                            <m:rPr>
                              <m:nor/>
                            </m:rPr>
                            <a:rPr lang="it-IT" sz="2000" b="1" dirty="0">
                              <a:solidFill>
                                <a:schemeClr val="dk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Archivo Black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it-IT" sz="2000" b="1" dirty="0">
                              <a:solidFill>
                                <a:schemeClr val="dk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Archivo Black"/>
                            </a:rPr>
                            <m:t>Solidity</m:t>
                          </m:r>
                          <m:r>
                            <m:rPr>
                              <m:nor/>
                            </m:rPr>
                            <a:rPr lang="it-IT" sz="2000" b="1" dirty="0">
                              <a:solidFill>
                                <a:schemeClr val="dk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Archivo Black"/>
                            </a:rPr>
                            <m:t>)</m:t>
                          </m:r>
                        </m:e>
                        <m:sup>
                          <m:r>
                            <a:rPr lang="it-IT" sz="2000" b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Archivo Black"/>
                            </a:rPr>
                            <m:t>𝟏</m:t>
                          </m:r>
                          <m:r>
                            <a:rPr lang="it-IT" sz="2000" b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Archivo Black"/>
                            </a:rPr>
                            <m:t>.</m:t>
                          </m:r>
                          <m:r>
                            <a:rPr lang="it-IT" sz="2000" b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Archivo Black"/>
                            </a:rPr>
                            <m:t>𝟓</m:t>
                          </m:r>
                        </m:sup>
                      </m:sSup>
                      <m:r>
                        <a:rPr lang="it-IT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chivo Black"/>
                        </a:rPr>
                        <m:t>×</m:t>
                      </m:r>
                      <m:r>
                        <a:rPr lang="it-IT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chivo Black"/>
                        </a:rPr>
                        <m:t>𝑴𝒖𝒍𝒕𝒊𝒑𝒍𝒊𝒆𝒓</m:t>
                      </m:r>
                    </m:oMath>
                  </m:oMathPara>
                </a14:m>
                <a:endParaRPr lang="it-IT" sz="2000" dirty="0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chivo Black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3926CD1-27DB-241A-FB89-5754801F4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146" y="2527106"/>
                <a:ext cx="5265609" cy="353943"/>
              </a:xfrm>
              <a:prstGeom prst="rect">
                <a:avLst/>
              </a:prstGeom>
              <a:blipFill>
                <a:blip r:embed="rId3"/>
                <a:stretch>
                  <a:fillRect l="-926" r="-1620" b="-2241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7760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0"/>
          <p:cNvSpPr txBox="1">
            <a:spLocks noGrp="1"/>
          </p:cNvSpPr>
          <p:nvPr>
            <p:ph type="title"/>
          </p:nvPr>
        </p:nvSpPr>
        <p:spPr>
          <a:xfrm>
            <a:off x="184093" y="39212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Selezione del Candidato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9" name="Google Shape;699;p40"/>
          <p:cNvSpPr txBox="1">
            <a:spLocks noGrp="1"/>
          </p:cNvSpPr>
          <p:nvPr>
            <p:ph type="subTitle" idx="1"/>
          </p:nvPr>
        </p:nvSpPr>
        <p:spPr>
          <a:xfrm>
            <a:off x="3058082" y="3482247"/>
            <a:ext cx="2736900" cy="12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Calcolo dello Score per tutti i candidati validi.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0" name="Google Shape;700;p40"/>
          <p:cNvSpPr txBox="1">
            <a:spLocks noGrp="1"/>
          </p:cNvSpPr>
          <p:nvPr>
            <p:ph type="subTitle" idx="2"/>
          </p:nvPr>
        </p:nvSpPr>
        <p:spPr>
          <a:xfrm>
            <a:off x="184103" y="3414787"/>
            <a:ext cx="2736900" cy="12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Scarto immediato di candidati fuori dai limiti fisiologici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1" name="Google Shape;701;p40"/>
          <p:cNvSpPr txBox="1">
            <a:spLocks noGrp="1"/>
          </p:cNvSpPr>
          <p:nvPr>
            <p:ph type="subTitle" idx="3"/>
          </p:nvPr>
        </p:nvSpPr>
        <p:spPr>
          <a:xfrm>
            <a:off x="3080598" y="2904259"/>
            <a:ext cx="2736900" cy="72007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Valutazione 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Morfologaica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2" name="Google Shape;702;p40"/>
          <p:cNvSpPr txBox="1">
            <a:spLocks noGrp="1"/>
          </p:cNvSpPr>
          <p:nvPr>
            <p:ph type="subTitle" idx="4"/>
          </p:nvPr>
        </p:nvSpPr>
        <p:spPr>
          <a:xfrm>
            <a:off x="184093" y="2984887"/>
            <a:ext cx="27369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Esclusione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3" name="Google Shape;703;p40"/>
          <p:cNvSpPr/>
          <p:nvPr/>
        </p:nvSpPr>
        <p:spPr>
          <a:xfrm>
            <a:off x="1197493" y="2245252"/>
            <a:ext cx="710100" cy="513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04" name="Google Shape;704;p40"/>
          <p:cNvSpPr/>
          <p:nvPr/>
        </p:nvSpPr>
        <p:spPr>
          <a:xfrm>
            <a:off x="4071472" y="2245252"/>
            <a:ext cx="710100" cy="513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00;p40">
            <a:extLst>
              <a:ext uri="{FF2B5EF4-FFF2-40B4-BE49-F238E27FC236}">
                <a16:creationId xmlns:a16="http://schemas.microsoft.com/office/drawing/2014/main" id="{84A93FB9-A48A-CF6D-1D48-3D5256B3CCBA}"/>
              </a:ext>
            </a:extLst>
          </p:cNvPr>
          <p:cNvSpPr txBox="1">
            <a:spLocks/>
          </p:cNvSpPr>
          <p:nvPr/>
        </p:nvSpPr>
        <p:spPr>
          <a:xfrm>
            <a:off x="184093" y="1253814"/>
            <a:ext cx="5933662" cy="36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indent="0" algn="just"/>
            <a:r>
              <a:rPr lang="it-I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processo di selezione per singola slice avviene in tre step gerarchici: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699;p40">
            <a:extLst>
              <a:ext uri="{FF2B5EF4-FFF2-40B4-BE49-F238E27FC236}">
                <a16:creationId xmlns:a16="http://schemas.microsoft.com/office/drawing/2014/main" id="{C7298DF8-70A7-1B1B-740B-74BFB71BCA4F}"/>
              </a:ext>
            </a:extLst>
          </p:cNvPr>
          <p:cNvSpPr txBox="1">
            <a:spLocks/>
          </p:cNvSpPr>
          <p:nvPr/>
        </p:nvSpPr>
        <p:spPr>
          <a:xfrm>
            <a:off x="5932061" y="3414787"/>
            <a:ext cx="2736900" cy="12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indent="0"/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Vince la struttura che massimizza la funzione di Scoring.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Google Shape;701;p40">
            <a:extLst>
              <a:ext uri="{FF2B5EF4-FFF2-40B4-BE49-F238E27FC236}">
                <a16:creationId xmlns:a16="http://schemas.microsoft.com/office/drawing/2014/main" id="{403CEF71-3E1E-479A-B217-1A2ACC75130C}"/>
              </a:ext>
            </a:extLst>
          </p:cNvPr>
          <p:cNvSpPr txBox="1">
            <a:spLocks/>
          </p:cNvSpPr>
          <p:nvPr/>
        </p:nvSpPr>
        <p:spPr>
          <a:xfrm>
            <a:off x="5932061" y="2984887"/>
            <a:ext cx="27369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Selezione</a:t>
            </a:r>
          </a:p>
        </p:txBody>
      </p:sp>
      <p:sp>
        <p:nvSpPr>
          <p:cNvPr id="9" name="Google Shape;704;p40">
            <a:extLst>
              <a:ext uri="{FF2B5EF4-FFF2-40B4-BE49-F238E27FC236}">
                <a16:creationId xmlns:a16="http://schemas.microsoft.com/office/drawing/2014/main" id="{92A8780D-F520-B351-375F-16492103E85A}"/>
              </a:ext>
            </a:extLst>
          </p:cNvPr>
          <p:cNvSpPr/>
          <p:nvPr/>
        </p:nvSpPr>
        <p:spPr>
          <a:xfrm>
            <a:off x="6945461" y="2245252"/>
            <a:ext cx="710100" cy="513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02;p40">
            <a:extLst>
              <a:ext uri="{FF2B5EF4-FFF2-40B4-BE49-F238E27FC236}">
                <a16:creationId xmlns:a16="http://schemas.microsoft.com/office/drawing/2014/main" id="{DCE99751-AC67-A9BF-ABDE-6C9B139ADB04}"/>
              </a:ext>
            </a:extLst>
          </p:cNvPr>
          <p:cNvSpPr txBox="1">
            <a:spLocks/>
          </p:cNvSpPr>
          <p:nvPr/>
        </p:nvSpPr>
        <p:spPr>
          <a:xfrm>
            <a:off x="1377889" y="2317495"/>
            <a:ext cx="349307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1" name="Google Shape;702;p40">
            <a:extLst>
              <a:ext uri="{FF2B5EF4-FFF2-40B4-BE49-F238E27FC236}">
                <a16:creationId xmlns:a16="http://schemas.microsoft.com/office/drawing/2014/main" id="{9C40E80B-52AD-5005-C0D3-51627C27BD0A}"/>
              </a:ext>
            </a:extLst>
          </p:cNvPr>
          <p:cNvSpPr txBox="1">
            <a:spLocks/>
          </p:cNvSpPr>
          <p:nvPr/>
        </p:nvSpPr>
        <p:spPr>
          <a:xfrm>
            <a:off x="4251868" y="2317495"/>
            <a:ext cx="349307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2" name="Google Shape;702;p40">
            <a:extLst>
              <a:ext uri="{FF2B5EF4-FFF2-40B4-BE49-F238E27FC236}">
                <a16:creationId xmlns:a16="http://schemas.microsoft.com/office/drawing/2014/main" id="{5C6B49CE-DC1A-5136-C0F8-9636CECB30CE}"/>
              </a:ext>
            </a:extLst>
          </p:cNvPr>
          <p:cNvSpPr txBox="1">
            <a:spLocks/>
          </p:cNvSpPr>
          <p:nvPr/>
        </p:nvSpPr>
        <p:spPr>
          <a:xfrm>
            <a:off x="7125857" y="2347837"/>
            <a:ext cx="349307" cy="399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">
          <a:extLst>
            <a:ext uri="{FF2B5EF4-FFF2-40B4-BE49-F238E27FC236}">
              <a16:creationId xmlns:a16="http://schemas.microsoft.com/office/drawing/2014/main" id="{54773A32-B298-1F56-120F-D05E5BDC6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51">
            <a:extLst>
              <a:ext uri="{FF2B5EF4-FFF2-40B4-BE49-F238E27FC236}">
                <a16:creationId xmlns:a16="http://schemas.microsoft.com/office/drawing/2014/main" id="{29FB11E1-504D-1430-9402-BD56A1F94E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2152" y="201197"/>
            <a:ext cx="826096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Output: </a:t>
            </a:r>
            <a:r>
              <a:rPr lang="en-US" sz="2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Predizione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vs Ground Truth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571;p37">
            <a:extLst>
              <a:ext uri="{FF2B5EF4-FFF2-40B4-BE49-F238E27FC236}">
                <a16:creationId xmlns:a16="http://schemas.microsoft.com/office/drawing/2014/main" id="{A9601A44-8714-3FA8-72F0-B197633171A9}"/>
              </a:ext>
            </a:extLst>
          </p:cNvPr>
          <p:cNvSpPr/>
          <p:nvPr/>
        </p:nvSpPr>
        <p:spPr>
          <a:xfrm>
            <a:off x="59785" y="4367679"/>
            <a:ext cx="193681" cy="202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978;p51">
            <a:extLst>
              <a:ext uri="{FF2B5EF4-FFF2-40B4-BE49-F238E27FC236}">
                <a16:creationId xmlns:a16="http://schemas.microsoft.com/office/drawing/2014/main" id="{7D98A7B0-A2BD-C7D0-A13F-F4FAD6163208}"/>
              </a:ext>
            </a:extLst>
          </p:cNvPr>
          <p:cNvSpPr txBox="1">
            <a:spLocks/>
          </p:cNvSpPr>
          <p:nvPr/>
        </p:nvSpPr>
        <p:spPr>
          <a:xfrm>
            <a:off x="253466" y="4276588"/>
            <a:ext cx="8078337" cy="29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L'output finale è la maschera binaria del nodulo selezionato, inviata al modulo di valutazione per il calcolo volumetrico del Dice Score.</a:t>
            </a:r>
            <a:endParaRPr lang="it-IT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EADB8A-70DE-A439-94D8-F1833107F0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600"/>
          <a:stretch>
            <a:fillRect/>
          </a:stretch>
        </p:blipFill>
        <p:spPr>
          <a:xfrm>
            <a:off x="807242" y="1027589"/>
            <a:ext cx="3818098" cy="3088321"/>
          </a:xfrm>
          <a:prstGeom prst="rect">
            <a:avLst/>
          </a:prstGeom>
        </p:spPr>
      </p:pic>
      <p:sp>
        <p:nvSpPr>
          <p:cNvPr id="6" name="Google Shape;571;p37">
            <a:extLst>
              <a:ext uri="{FF2B5EF4-FFF2-40B4-BE49-F238E27FC236}">
                <a16:creationId xmlns:a16="http://schemas.microsoft.com/office/drawing/2014/main" id="{9CC7AA61-93A5-84A2-155A-16A4D7F94895}"/>
              </a:ext>
            </a:extLst>
          </p:cNvPr>
          <p:cNvSpPr/>
          <p:nvPr/>
        </p:nvSpPr>
        <p:spPr>
          <a:xfrm>
            <a:off x="5205504" y="1828781"/>
            <a:ext cx="193681" cy="2029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571;p37">
            <a:extLst>
              <a:ext uri="{FF2B5EF4-FFF2-40B4-BE49-F238E27FC236}">
                <a16:creationId xmlns:a16="http://schemas.microsoft.com/office/drawing/2014/main" id="{6E416549-7455-DEF5-FF26-A43441564DA8}"/>
              </a:ext>
            </a:extLst>
          </p:cNvPr>
          <p:cNvSpPr/>
          <p:nvPr/>
        </p:nvSpPr>
        <p:spPr>
          <a:xfrm>
            <a:off x="5205504" y="2352498"/>
            <a:ext cx="193681" cy="2029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Google Shape;978;p51">
            <a:extLst>
              <a:ext uri="{FF2B5EF4-FFF2-40B4-BE49-F238E27FC236}">
                <a16:creationId xmlns:a16="http://schemas.microsoft.com/office/drawing/2014/main" id="{0FA3C207-5710-5356-B5C5-EC275B3D375E}"/>
              </a:ext>
            </a:extLst>
          </p:cNvPr>
          <p:cNvSpPr txBox="1">
            <a:spLocks/>
          </p:cNvSpPr>
          <p:nvPr/>
        </p:nvSpPr>
        <p:spPr>
          <a:xfrm>
            <a:off x="5399185" y="1735118"/>
            <a:ext cx="2593271" cy="29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Rosso tratteggiato = Predizione</a:t>
            </a:r>
            <a:endParaRPr lang="it-IT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Google Shape;978;p51">
            <a:extLst>
              <a:ext uri="{FF2B5EF4-FFF2-40B4-BE49-F238E27FC236}">
                <a16:creationId xmlns:a16="http://schemas.microsoft.com/office/drawing/2014/main" id="{419DE768-4017-67A6-0609-DD28BC3A384B}"/>
              </a:ext>
            </a:extLst>
          </p:cNvPr>
          <p:cNvSpPr txBox="1">
            <a:spLocks/>
          </p:cNvSpPr>
          <p:nvPr/>
        </p:nvSpPr>
        <p:spPr>
          <a:xfrm>
            <a:off x="5399185" y="2275187"/>
            <a:ext cx="3446713" cy="29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Verde continuo = Ground Truth Radiologi</a:t>
            </a:r>
            <a:endParaRPr lang="it-IT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70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3">
          <a:extLst>
            <a:ext uri="{FF2B5EF4-FFF2-40B4-BE49-F238E27FC236}">
              <a16:creationId xmlns:a16="http://schemas.microsoft.com/office/drawing/2014/main" id="{EE7EECC9-EFA9-AEB3-F647-DE0F5DB3E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52">
            <a:extLst>
              <a:ext uri="{FF2B5EF4-FFF2-40B4-BE49-F238E27FC236}">
                <a16:creationId xmlns:a16="http://schemas.microsoft.com/office/drawing/2014/main" id="{F2910DEF-07C5-BC93-BA7B-B8C827A804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8520" y="41707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Prestazioni sui Casi Rilevati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EC0B9-0BB0-F533-AC70-779E654CE3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34" t="4354"/>
          <a:stretch>
            <a:fillRect/>
          </a:stretch>
        </p:blipFill>
        <p:spPr>
          <a:xfrm>
            <a:off x="640079" y="1500364"/>
            <a:ext cx="4019640" cy="3188018"/>
          </a:xfrm>
          <a:prstGeom prst="rect">
            <a:avLst/>
          </a:prstGeom>
        </p:spPr>
      </p:pic>
      <p:sp>
        <p:nvSpPr>
          <p:cNvPr id="6" name="Google Shape;571;p37">
            <a:extLst>
              <a:ext uri="{FF2B5EF4-FFF2-40B4-BE49-F238E27FC236}">
                <a16:creationId xmlns:a16="http://schemas.microsoft.com/office/drawing/2014/main" id="{7F265AC5-5040-0323-C6A5-CF03382D8D9E}"/>
              </a:ext>
            </a:extLst>
          </p:cNvPr>
          <p:cNvSpPr/>
          <p:nvPr/>
        </p:nvSpPr>
        <p:spPr>
          <a:xfrm>
            <a:off x="5166265" y="2277868"/>
            <a:ext cx="193681" cy="202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978;p51">
            <a:extLst>
              <a:ext uri="{FF2B5EF4-FFF2-40B4-BE49-F238E27FC236}">
                <a16:creationId xmlns:a16="http://schemas.microsoft.com/office/drawing/2014/main" id="{264E8746-1129-E245-C590-7A0234C083E3}"/>
              </a:ext>
            </a:extLst>
          </p:cNvPr>
          <p:cNvSpPr txBox="1">
            <a:spLocks/>
          </p:cNvSpPr>
          <p:nvPr/>
        </p:nvSpPr>
        <p:spPr>
          <a:xfrm>
            <a:off x="5359946" y="2152138"/>
            <a:ext cx="3518433" cy="1063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it-IT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Accuratezza Morfologica Locale:</a:t>
            </a:r>
          </a:p>
          <a:p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Quando l'algoritmo individua correttamente la lesione, dimostra una solida capacità di delinearne i contorni.</a:t>
            </a:r>
            <a:endParaRPr lang="it-IT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150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>
          <a:extLst>
            <a:ext uri="{FF2B5EF4-FFF2-40B4-BE49-F238E27FC236}">
              <a16:creationId xmlns:a16="http://schemas.microsoft.com/office/drawing/2014/main" id="{C0AE00CE-D679-66C9-2492-26C2F2D64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8">
            <a:extLst>
              <a:ext uri="{FF2B5EF4-FFF2-40B4-BE49-F238E27FC236}">
                <a16:creationId xmlns:a16="http://schemas.microsoft.com/office/drawing/2014/main" id="{37E5766D-4D9C-0D78-D1F2-D89EBF23AE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8520" y="4221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Prestazioni Globali e Impatto dei Fallimenti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3C0C54-555D-E6AA-053B-C0ADA3AB0B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52" t="4046"/>
          <a:stretch>
            <a:fillRect/>
          </a:stretch>
        </p:blipFill>
        <p:spPr>
          <a:xfrm>
            <a:off x="464819" y="1524000"/>
            <a:ext cx="4357027" cy="3322320"/>
          </a:xfrm>
          <a:prstGeom prst="rect">
            <a:avLst/>
          </a:prstGeom>
        </p:spPr>
      </p:pic>
      <p:sp>
        <p:nvSpPr>
          <p:cNvPr id="4" name="Google Shape;571;p37">
            <a:extLst>
              <a:ext uri="{FF2B5EF4-FFF2-40B4-BE49-F238E27FC236}">
                <a16:creationId xmlns:a16="http://schemas.microsoft.com/office/drawing/2014/main" id="{B4CE10A7-A416-D4E1-9F21-98924C33EFB8}"/>
              </a:ext>
            </a:extLst>
          </p:cNvPr>
          <p:cNvSpPr/>
          <p:nvPr/>
        </p:nvSpPr>
        <p:spPr>
          <a:xfrm>
            <a:off x="5227225" y="2247388"/>
            <a:ext cx="193681" cy="202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978;p51">
            <a:extLst>
              <a:ext uri="{FF2B5EF4-FFF2-40B4-BE49-F238E27FC236}">
                <a16:creationId xmlns:a16="http://schemas.microsoft.com/office/drawing/2014/main" id="{AF9F61D8-7FDE-6067-8C21-05410842AC25}"/>
              </a:ext>
            </a:extLst>
          </p:cNvPr>
          <p:cNvSpPr txBox="1">
            <a:spLocks/>
          </p:cNvSpPr>
          <p:nvPr/>
        </p:nvSpPr>
        <p:spPr>
          <a:xfrm>
            <a:off x="5420906" y="2121658"/>
            <a:ext cx="3518433" cy="1063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it-IT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Impatto della Mancata Rilevazione:</a:t>
            </a:r>
          </a:p>
          <a:p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Valutando l'intero dataset, si osserva una netta discrepanza causata dall'inclusione dei casi non rilevati</a:t>
            </a:r>
            <a:endParaRPr lang="it-IT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0913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>
          <a:extLst>
            <a:ext uri="{FF2B5EF4-FFF2-40B4-BE49-F238E27FC236}">
              <a16:creationId xmlns:a16="http://schemas.microsoft.com/office/drawing/2014/main" id="{C902EC8A-4C85-974F-05F8-920EDAAD6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8">
            <a:extLst>
              <a:ext uri="{FF2B5EF4-FFF2-40B4-BE49-F238E27FC236}">
                <a16:creationId xmlns:a16="http://schemas.microsoft.com/office/drawing/2014/main" id="{45C5BD98-A6CF-7CFF-90EB-A34454AF74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8520" y="4075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Curva di Robustezza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571;p37">
            <a:extLst>
              <a:ext uri="{FF2B5EF4-FFF2-40B4-BE49-F238E27FC236}">
                <a16:creationId xmlns:a16="http://schemas.microsoft.com/office/drawing/2014/main" id="{93DE40CE-92E0-ADA5-99E1-E306445A65B2}"/>
              </a:ext>
            </a:extLst>
          </p:cNvPr>
          <p:cNvSpPr/>
          <p:nvPr/>
        </p:nvSpPr>
        <p:spPr>
          <a:xfrm>
            <a:off x="5227225" y="2247388"/>
            <a:ext cx="193681" cy="202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978;p51">
            <a:extLst>
              <a:ext uri="{FF2B5EF4-FFF2-40B4-BE49-F238E27FC236}">
                <a16:creationId xmlns:a16="http://schemas.microsoft.com/office/drawing/2014/main" id="{D1261CFF-EBF2-81EC-A52A-9B1AC547F168}"/>
              </a:ext>
            </a:extLst>
          </p:cNvPr>
          <p:cNvSpPr txBox="1">
            <a:spLocks/>
          </p:cNvSpPr>
          <p:nvPr/>
        </p:nvSpPr>
        <p:spPr>
          <a:xfrm>
            <a:off x="5420906" y="2121658"/>
            <a:ext cx="3518433" cy="1063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distribuzione ordinata delle performance evidenzia due regimi di funzionamento: un'ampia area di stabilità in cui la lesione viene segmentata con successo, seguita da una rapida flessione dovuta esclusivamente ai casi di mancata rilevazione</a:t>
            </a:r>
            <a:endParaRPr lang="it-IT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3A3ACB-600E-8B60-0A29-EA39036E07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50"/>
          <a:stretch>
            <a:fillRect/>
          </a:stretch>
        </p:blipFill>
        <p:spPr>
          <a:xfrm>
            <a:off x="308520" y="1428750"/>
            <a:ext cx="4544068" cy="351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228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>
          <a:extLst>
            <a:ext uri="{FF2B5EF4-FFF2-40B4-BE49-F238E27FC236}">
              <a16:creationId xmlns:a16="http://schemas.microsoft.com/office/drawing/2014/main" id="{F6FEBDF9-39FE-7CA7-DB8E-E737A8292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8">
            <a:extLst>
              <a:ext uri="{FF2B5EF4-FFF2-40B4-BE49-F238E27FC236}">
                <a16:creationId xmlns:a16="http://schemas.microsoft.com/office/drawing/2014/main" id="{4780A9A7-2020-588E-856F-7EA11FBE07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8520" y="4075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Analisi degli Errori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571;p37">
            <a:extLst>
              <a:ext uri="{FF2B5EF4-FFF2-40B4-BE49-F238E27FC236}">
                <a16:creationId xmlns:a16="http://schemas.microsoft.com/office/drawing/2014/main" id="{CF113019-922A-C6A5-81BB-59AE42FAE6C3}"/>
              </a:ext>
            </a:extLst>
          </p:cNvPr>
          <p:cNvSpPr/>
          <p:nvPr/>
        </p:nvSpPr>
        <p:spPr>
          <a:xfrm>
            <a:off x="4876705" y="1487491"/>
            <a:ext cx="193681" cy="202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978;p51">
            <a:extLst>
              <a:ext uri="{FF2B5EF4-FFF2-40B4-BE49-F238E27FC236}">
                <a16:creationId xmlns:a16="http://schemas.microsoft.com/office/drawing/2014/main" id="{E790183A-35B8-FE7B-C56F-D72311D39002}"/>
              </a:ext>
            </a:extLst>
          </p:cNvPr>
          <p:cNvSpPr txBox="1">
            <a:spLocks/>
          </p:cNvSpPr>
          <p:nvPr/>
        </p:nvSpPr>
        <p:spPr>
          <a:xfrm>
            <a:off x="5070386" y="1366575"/>
            <a:ext cx="3518433" cy="1063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it-IT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causa primaria assoluta di fallimento è rappresentata dai vasi sanguigni, che in sezione 2D generano falsi positivi geometricamente perfetti.</a:t>
            </a:r>
            <a:endParaRPr lang="it-IT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2F8034-9EA0-0E7A-DF18-0C16592D4E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18" b="-1"/>
          <a:stretch>
            <a:fillRect/>
          </a:stretch>
        </p:blipFill>
        <p:spPr>
          <a:xfrm>
            <a:off x="171726" y="1536487"/>
            <a:ext cx="4487884" cy="2785252"/>
          </a:xfrm>
          <a:prstGeom prst="rect">
            <a:avLst/>
          </a:prstGeom>
        </p:spPr>
      </p:pic>
      <p:sp>
        <p:nvSpPr>
          <p:cNvPr id="7" name="Google Shape;978;p51">
            <a:extLst>
              <a:ext uri="{FF2B5EF4-FFF2-40B4-BE49-F238E27FC236}">
                <a16:creationId xmlns:a16="http://schemas.microsoft.com/office/drawing/2014/main" id="{BB3FC421-355D-1E7E-321A-07FD5E2076E7}"/>
              </a:ext>
            </a:extLst>
          </p:cNvPr>
          <p:cNvSpPr txBox="1">
            <a:spLocks/>
          </p:cNvSpPr>
          <p:nvPr/>
        </p:nvSpPr>
        <p:spPr>
          <a:xfrm>
            <a:off x="5070386" y="2457157"/>
            <a:ext cx="3959314" cy="58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resto degli errori si distribuisce su problematiche anatomiche note:</a:t>
            </a:r>
            <a:endParaRPr lang="it-IT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Google Shape;571;p37">
            <a:extLst>
              <a:ext uri="{FF2B5EF4-FFF2-40B4-BE49-F238E27FC236}">
                <a16:creationId xmlns:a16="http://schemas.microsoft.com/office/drawing/2014/main" id="{1D0C3A62-BC15-08FF-9CE0-E4A9663B2E9F}"/>
              </a:ext>
            </a:extLst>
          </p:cNvPr>
          <p:cNvSpPr/>
          <p:nvPr/>
        </p:nvSpPr>
        <p:spPr>
          <a:xfrm>
            <a:off x="4876705" y="2548462"/>
            <a:ext cx="193681" cy="202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571;p37">
            <a:extLst>
              <a:ext uri="{FF2B5EF4-FFF2-40B4-BE49-F238E27FC236}">
                <a16:creationId xmlns:a16="http://schemas.microsoft.com/office/drawing/2014/main" id="{B6786AA9-2891-E066-77D9-DBB3CE1179A2}"/>
              </a:ext>
            </a:extLst>
          </p:cNvPr>
          <p:cNvSpPr/>
          <p:nvPr/>
        </p:nvSpPr>
        <p:spPr>
          <a:xfrm>
            <a:off x="5252488" y="3202707"/>
            <a:ext cx="106776" cy="114938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978;p51">
            <a:extLst>
              <a:ext uri="{FF2B5EF4-FFF2-40B4-BE49-F238E27FC236}">
                <a16:creationId xmlns:a16="http://schemas.microsoft.com/office/drawing/2014/main" id="{8D2A3B78-E46C-2E0D-EB63-20E9DAA31944}"/>
              </a:ext>
            </a:extLst>
          </p:cNvPr>
          <p:cNvSpPr txBox="1">
            <a:spLocks/>
          </p:cNvSpPr>
          <p:nvPr/>
        </p:nvSpPr>
        <p:spPr>
          <a:xfrm>
            <a:off x="5358062" y="3046487"/>
            <a:ext cx="3479831" cy="58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Lesioni a bassissimo contrasto sfuggite ai filtri (GGO)</a:t>
            </a:r>
            <a:endParaRPr lang="it-IT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78;p51">
            <a:extLst>
              <a:ext uri="{FF2B5EF4-FFF2-40B4-BE49-F238E27FC236}">
                <a16:creationId xmlns:a16="http://schemas.microsoft.com/office/drawing/2014/main" id="{07990B16-2776-6CA3-E144-0BF9350078C5}"/>
              </a:ext>
            </a:extLst>
          </p:cNvPr>
          <p:cNvSpPr txBox="1">
            <a:spLocks/>
          </p:cNvSpPr>
          <p:nvPr/>
        </p:nvSpPr>
        <p:spPr>
          <a:xfrm>
            <a:off x="5358062" y="3649823"/>
            <a:ext cx="3444239" cy="58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Ispessimenti della parete toracica scambiati per lesioni (</a:t>
            </a:r>
            <a:r>
              <a:rPr lang="it-IT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Juxta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it-IT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Google Shape;978;p51">
            <a:extLst>
              <a:ext uri="{FF2B5EF4-FFF2-40B4-BE49-F238E27FC236}">
                <a16:creationId xmlns:a16="http://schemas.microsoft.com/office/drawing/2014/main" id="{86BCC4E6-04E1-57F7-C968-CA9C0ED24214}"/>
              </a:ext>
            </a:extLst>
          </p:cNvPr>
          <p:cNvSpPr txBox="1">
            <a:spLocks/>
          </p:cNvSpPr>
          <p:nvPr/>
        </p:nvSpPr>
        <p:spPr>
          <a:xfrm>
            <a:off x="5358061" y="4253159"/>
            <a:ext cx="3444239" cy="58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Complessità strutturali centrali (Ilo polmonare).</a:t>
            </a:r>
            <a:endParaRPr lang="it-IT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Google Shape;571;p37">
            <a:extLst>
              <a:ext uri="{FF2B5EF4-FFF2-40B4-BE49-F238E27FC236}">
                <a16:creationId xmlns:a16="http://schemas.microsoft.com/office/drawing/2014/main" id="{6B95E6D8-6C1A-E3E3-DF1A-21A7CF45171D}"/>
              </a:ext>
            </a:extLst>
          </p:cNvPr>
          <p:cNvSpPr/>
          <p:nvPr/>
        </p:nvSpPr>
        <p:spPr>
          <a:xfrm>
            <a:off x="5257793" y="3803223"/>
            <a:ext cx="106776" cy="114938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" name="Google Shape;571;p37">
            <a:extLst>
              <a:ext uri="{FF2B5EF4-FFF2-40B4-BE49-F238E27FC236}">
                <a16:creationId xmlns:a16="http://schemas.microsoft.com/office/drawing/2014/main" id="{C8A1C241-33E2-4291-1EC7-1B43746DF31C}"/>
              </a:ext>
            </a:extLst>
          </p:cNvPr>
          <p:cNvSpPr/>
          <p:nvPr/>
        </p:nvSpPr>
        <p:spPr>
          <a:xfrm>
            <a:off x="5252488" y="4403739"/>
            <a:ext cx="106776" cy="114938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2732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>
          <a:extLst>
            <a:ext uri="{FF2B5EF4-FFF2-40B4-BE49-F238E27FC236}">
              <a16:creationId xmlns:a16="http://schemas.microsoft.com/office/drawing/2014/main" id="{723092B3-6F7C-3A6E-98A4-415180830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8">
            <a:extLst>
              <a:ext uri="{FF2B5EF4-FFF2-40B4-BE49-F238E27FC236}">
                <a16:creationId xmlns:a16="http://schemas.microsoft.com/office/drawing/2014/main" id="{9FB3631B-82E4-E5FE-67AC-2B8DBCAE58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8520" y="4075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Confronto: Caso di successo vs Limite 2D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875D47-3281-B71D-F0FD-32C141E198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54"/>
          <a:stretch>
            <a:fillRect/>
          </a:stretch>
        </p:blipFill>
        <p:spPr>
          <a:xfrm>
            <a:off x="1104900" y="1370897"/>
            <a:ext cx="6499860" cy="336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31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>
          <a:extLst>
            <a:ext uri="{FF2B5EF4-FFF2-40B4-BE49-F238E27FC236}">
              <a16:creationId xmlns:a16="http://schemas.microsoft.com/office/drawing/2014/main" id="{CDC49E22-1428-8FD2-E1E4-FD58C572E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49">
            <a:extLst>
              <a:ext uri="{FF2B5EF4-FFF2-40B4-BE49-F238E27FC236}">
                <a16:creationId xmlns:a16="http://schemas.microsoft.com/office/drawing/2014/main" id="{1E953A60-2B87-6938-12E7-ADD26334D806}"/>
              </a:ext>
            </a:extLst>
          </p:cNvPr>
          <p:cNvSpPr/>
          <p:nvPr/>
        </p:nvSpPr>
        <p:spPr>
          <a:xfrm rot="-2700000">
            <a:off x="7642960" y="2335162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3" name="Google Shape;933;p49">
            <a:extLst>
              <a:ext uri="{FF2B5EF4-FFF2-40B4-BE49-F238E27FC236}">
                <a16:creationId xmlns:a16="http://schemas.microsoft.com/office/drawing/2014/main" id="{03EA6318-063D-B15D-E0E3-51D43CB3E4E6}"/>
              </a:ext>
            </a:extLst>
          </p:cNvPr>
          <p:cNvGrpSpPr/>
          <p:nvPr/>
        </p:nvGrpSpPr>
        <p:grpSpPr>
          <a:xfrm>
            <a:off x="4262784" y="-94101"/>
            <a:ext cx="5490816" cy="5475238"/>
            <a:chOff x="4262784" y="-94101"/>
            <a:chExt cx="5490816" cy="5475238"/>
          </a:xfrm>
        </p:grpSpPr>
        <p:sp>
          <p:nvSpPr>
            <p:cNvPr id="934" name="Google Shape;934;p49">
              <a:extLst>
                <a:ext uri="{FF2B5EF4-FFF2-40B4-BE49-F238E27FC236}">
                  <a16:creationId xmlns:a16="http://schemas.microsoft.com/office/drawing/2014/main" id="{6C869F85-2144-4901-7767-4838E2655297}"/>
                </a:ext>
              </a:extLst>
            </p:cNvPr>
            <p:cNvSpPr/>
            <p:nvPr/>
          </p:nvSpPr>
          <p:spPr>
            <a:xfrm flipH="1">
              <a:off x="4589100" y="-94101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9">
              <a:extLst>
                <a:ext uri="{FF2B5EF4-FFF2-40B4-BE49-F238E27FC236}">
                  <a16:creationId xmlns:a16="http://schemas.microsoft.com/office/drawing/2014/main" id="{FD46D281-417B-BE82-291A-9AD51CF0443E}"/>
                </a:ext>
              </a:extLst>
            </p:cNvPr>
            <p:cNvSpPr/>
            <p:nvPr/>
          </p:nvSpPr>
          <p:spPr>
            <a:xfrm rot="-2699590">
              <a:off x="7795135" y="769228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9">
              <a:extLst>
                <a:ext uri="{FF2B5EF4-FFF2-40B4-BE49-F238E27FC236}">
                  <a16:creationId xmlns:a16="http://schemas.microsoft.com/office/drawing/2014/main" id="{2EFA0B09-9F8B-75E2-9C9D-84341ABF77F4}"/>
                </a:ext>
              </a:extLst>
            </p:cNvPr>
            <p:cNvSpPr/>
            <p:nvPr/>
          </p:nvSpPr>
          <p:spPr>
            <a:xfrm>
              <a:off x="5177089" y="2617224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9">
              <a:extLst>
                <a:ext uri="{FF2B5EF4-FFF2-40B4-BE49-F238E27FC236}">
                  <a16:creationId xmlns:a16="http://schemas.microsoft.com/office/drawing/2014/main" id="{FADABBE2-56F3-FD1C-CC5E-1906074E5D75}"/>
                </a:ext>
              </a:extLst>
            </p:cNvPr>
            <p:cNvSpPr/>
            <p:nvPr/>
          </p:nvSpPr>
          <p:spPr>
            <a:xfrm rot="-2700000">
              <a:off x="5882759" y="4798887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9">
              <a:extLst>
                <a:ext uri="{FF2B5EF4-FFF2-40B4-BE49-F238E27FC236}">
                  <a16:creationId xmlns:a16="http://schemas.microsoft.com/office/drawing/2014/main" id="{10AE1DC1-CD7F-871E-DDF7-9ED4692E2AA2}"/>
                </a:ext>
              </a:extLst>
            </p:cNvPr>
            <p:cNvSpPr/>
            <p:nvPr/>
          </p:nvSpPr>
          <p:spPr>
            <a:xfrm rot="-2699590">
              <a:off x="4117684" y="4473046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9" name="Google Shape;939;p49">
            <a:extLst>
              <a:ext uri="{FF2B5EF4-FFF2-40B4-BE49-F238E27FC236}">
                <a16:creationId xmlns:a16="http://schemas.microsoft.com/office/drawing/2014/main" id="{AFE8BB74-A102-2A57-02E4-96E688CB64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038" y="726777"/>
            <a:ext cx="3045900" cy="7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CONCLUSIONI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718;p41">
            <a:extLst>
              <a:ext uri="{FF2B5EF4-FFF2-40B4-BE49-F238E27FC236}">
                <a16:creationId xmlns:a16="http://schemas.microsoft.com/office/drawing/2014/main" id="{B9381719-9344-EC01-BA19-3061CE43DE2D}"/>
              </a:ext>
            </a:extLst>
          </p:cNvPr>
          <p:cNvSpPr/>
          <p:nvPr/>
        </p:nvSpPr>
        <p:spPr>
          <a:xfrm>
            <a:off x="185038" y="1934892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Google Shape;718;p41">
            <a:extLst>
              <a:ext uri="{FF2B5EF4-FFF2-40B4-BE49-F238E27FC236}">
                <a16:creationId xmlns:a16="http://schemas.microsoft.com/office/drawing/2014/main" id="{297F3D02-965F-A0A0-0149-FDD9248CFF58}"/>
              </a:ext>
            </a:extLst>
          </p:cNvPr>
          <p:cNvSpPr/>
          <p:nvPr/>
        </p:nvSpPr>
        <p:spPr>
          <a:xfrm>
            <a:off x="185038" y="2789409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718;p41">
            <a:extLst>
              <a:ext uri="{FF2B5EF4-FFF2-40B4-BE49-F238E27FC236}">
                <a16:creationId xmlns:a16="http://schemas.microsoft.com/office/drawing/2014/main" id="{B34DB94A-8E31-A4A4-E44E-D47950629B3D}"/>
              </a:ext>
            </a:extLst>
          </p:cNvPr>
          <p:cNvSpPr/>
          <p:nvPr/>
        </p:nvSpPr>
        <p:spPr>
          <a:xfrm>
            <a:off x="185038" y="3643926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726;p41">
            <a:extLst>
              <a:ext uri="{FF2B5EF4-FFF2-40B4-BE49-F238E27FC236}">
                <a16:creationId xmlns:a16="http://schemas.microsoft.com/office/drawing/2014/main" id="{E91BE5C5-91C1-1816-A1BF-5778D7F2A99D}"/>
              </a:ext>
            </a:extLst>
          </p:cNvPr>
          <p:cNvSpPr txBox="1">
            <a:spLocks/>
          </p:cNvSpPr>
          <p:nvPr/>
        </p:nvSpPr>
        <p:spPr>
          <a:xfrm>
            <a:off x="516504" y="2755080"/>
            <a:ext cx="5665454" cy="54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Solida accuratezza morfologica locale nell'estrazione dei contorni geometrici della lesione.</a:t>
            </a:r>
          </a:p>
        </p:txBody>
      </p:sp>
      <p:sp>
        <p:nvSpPr>
          <p:cNvPr id="10" name="Google Shape;726;p41">
            <a:extLst>
              <a:ext uri="{FF2B5EF4-FFF2-40B4-BE49-F238E27FC236}">
                <a16:creationId xmlns:a16="http://schemas.microsoft.com/office/drawing/2014/main" id="{81625B65-2C93-A094-B52A-D9AAE9287220}"/>
              </a:ext>
            </a:extLst>
          </p:cNvPr>
          <p:cNvSpPr txBox="1">
            <a:spLocks/>
          </p:cNvSpPr>
          <p:nvPr/>
        </p:nvSpPr>
        <p:spPr>
          <a:xfrm>
            <a:off x="516504" y="3582010"/>
            <a:ext cx="5471490" cy="54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Analisi quantitativa rigorosa dei limiti della fase di </a:t>
            </a:r>
            <a:r>
              <a:rPr lang="it-IT" sz="1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Detection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2D, dominata dall'interferenza strutturale di vasi e pareti toraciche.</a:t>
            </a:r>
          </a:p>
        </p:txBody>
      </p:sp>
      <p:sp>
        <p:nvSpPr>
          <p:cNvPr id="13" name="Google Shape;726;p41">
            <a:extLst>
              <a:ext uri="{FF2B5EF4-FFF2-40B4-BE49-F238E27FC236}">
                <a16:creationId xmlns:a16="http://schemas.microsoft.com/office/drawing/2014/main" id="{4BA41E8D-88EC-1313-3B55-5F7F4BD4DBC4}"/>
              </a:ext>
            </a:extLst>
          </p:cNvPr>
          <p:cNvSpPr txBox="1">
            <a:spLocks/>
          </p:cNvSpPr>
          <p:nvPr/>
        </p:nvSpPr>
        <p:spPr>
          <a:xfrm>
            <a:off x="497682" y="1955619"/>
            <a:ext cx="5665454" cy="54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L'approccio Rule-</a:t>
            </a:r>
            <a:r>
              <a:rPr lang="it-IT" sz="1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garantisce una totale trasparenza e interpretabilità diagnostica.</a:t>
            </a:r>
          </a:p>
        </p:txBody>
      </p:sp>
    </p:spTree>
    <p:extLst>
      <p:ext uri="{BB962C8B-B14F-4D97-AF65-F5344CB8AC3E}">
        <p14:creationId xmlns:p14="http://schemas.microsoft.com/office/powerpoint/2010/main" val="36107635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>
          <a:extLst>
            <a:ext uri="{FF2B5EF4-FFF2-40B4-BE49-F238E27FC236}">
              <a16:creationId xmlns:a16="http://schemas.microsoft.com/office/drawing/2014/main" id="{C58C6EFA-17EF-C2F2-EB1F-80E686E03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49">
            <a:extLst>
              <a:ext uri="{FF2B5EF4-FFF2-40B4-BE49-F238E27FC236}">
                <a16:creationId xmlns:a16="http://schemas.microsoft.com/office/drawing/2014/main" id="{7CCA402C-766E-4A31-0864-31A1E9C5F312}"/>
              </a:ext>
            </a:extLst>
          </p:cNvPr>
          <p:cNvSpPr/>
          <p:nvPr/>
        </p:nvSpPr>
        <p:spPr>
          <a:xfrm rot="-2700000">
            <a:off x="7578325" y="2487562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3" name="Google Shape;933;p49">
            <a:extLst>
              <a:ext uri="{FF2B5EF4-FFF2-40B4-BE49-F238E27FC236}">
                <a16:creationId xmlns:a16="http://schemas.microsoft.com/office/drawing/2014/main" id="{221E01AD-A74B-4504-9D89-92D145CD2B30}"/>
              </a:ext>
            </a:extLst>
          </p:cNvPr>
          <p:cNvGrpSpPr/>
          <p:nvPr/>
        </p:nvGrpSpPr>
        <p:grpSpPr>
          <a:xfrm>
            <a:off x="4262784" y="-94101"/>
            <a:ext cx="5490816" cy="5475238"/>
            <a:chOff x="4262784" y="-94101"/>
            <a:chExt cx="5490816" cy="5475238"/>
          </a:xfrm>
        </p:grpSpPr>
        <p:sp>
          <p:nvSpPr>
            <p:cNvPr id="934" name="Google Shape;934;p49">
              <a:extLst>
                <a:ext uri="{FF2B5EF4-FFF2-40B4-BE49-F238E27FC236}">
                  <a16:creationId xmlns:a16="http://schemas.microsoft.com/office/drawing/2014/main" id="{11DFB505-3FFB-321A-402A-582A4574A95F}"/>
                </a:ext>
              </a:extLst>
            </p:cNvPr>
            <p:cNvSpPr/>
            <p:nvPr/>
          </p:nvSpPr>
          <p:spPr>
            <a:xfrm flipH="1">
              <a:off x="4589100" y="-94101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9">
              <a:extLst>
                <a:ext uri="{FF2B5EF4-FFF2-40B4-BE49-F238E27FC236}">
                  <a16:creationId xmlns:a16="http://schemas.microsoft.com/office/drawing/2014/main" id="{EB8CC7E6-C430-8869-E12D-B7BB73E0BE7C}"/>
                </a:ext>
              </a:extLst>
            </p:cNvPr>
            <p:cNvSpPr/>
            <p:nvPr/>
          </p:nvSpPr>
          <p:spPr>
            <a:xfrm rot="-2699590">
              <a:off x="7795135" y="769228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9">
              <a:extLst>
                <a:ext uri="{FF2B5EF4-FFF2-40B4-BE49-F238E27FC236}">
                  <a16:creationId xmlns:a16="http://schemas.microsoft.com/office/drawing/2014/main" id="{BB55D885-0656-DED3-9A97-F9F3D375D623}"/>
                </a:ext>
              </a:extLst>
            </p:cNvPr>
            <p:cNvSpPr/>
            <p:nvPr/>
          </p:nvSpPr>
          <p:spPr>
            <a:xfrm>
              <a:off x="5177089" y="2617224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9">
              <a:extLst>
                <a:ext uri="{FF2B5EF4-FFF2-40B4-BE49-F238E27FC236}">
                  <a16:creationId xmlns:a16="http://schemas.microsoft.com/office/drawing/2014/main" id="{4EC9E14B-9032-9C38-E283-6EEB5F6254BF}"/>
                </a:ext>
              </a:extLst>
            </p:cNvPr>
            <p:cNvSpPr/>
            <p:nvPr/>
          </p:nvSpPr>
          <p:spPr>
            <a:xfrm rot="-2700000">
              <a:off x="5882759" y="4798887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9">
              <a:extLst>
                <a:ext uri="{FF2B5EF4-FFF2-40B4-BE49-F238E27FC236}">
                  <a16:creationId xmlns:a16="http://schemas.microsoft.com/office/drawing/2014/main" id="{BDE6E29B-4E7E-F1CE-1FBC-64BED711DBC4}"/>
                </a:ext>
              </a:extLst>
            </p:cNvPr>
            <p:cNvSpPr/>
            <p:nvPr/>
          </p:nvSpPr>
          <p:spPr>
            <a:xfrm rot="-2699590">
              <a:off x="4117684" y="4473046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9" name="Google Shape;939;p49">
            <a:extLst>
              <a:ext uri="{FF2B5EF4-FFF2-40B4-BE49-F238E27FC236}">
                <a16:creationId xmlns:a16="http://schemas.microsoft.com/office/drawing/2014/main" id="{6F619916-8F54-80C6-F4A7-F2884EE536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556" y="449068"/>
            <a:ext cx="3045900" cy="7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SVILUPPI FUTURI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718;p41">
            <a:extLst>
              <a:ext uri="{FF2B5EF4-FFF2-40B4-BE49-F238E27FC236}">
                <a16:creationId xmlns:a16="http://schemas.microsoft.com/office/drawing/2014/main" id="{817D9089-3B8C-6D37-F760-F7ECB42BDFBF}"/>
              </a:ext>
            </a:extLst>
          </p:cNvPr>
          <p:cNvSpPr/>
          <p:nvPr/>
        </p:nvSpPr>
        <p:spPr>
          <a:xfrm>
            <a:off x="102556" y="1723093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Google Shape;718;p41">
            <a:extLst>
              <a:ext uri="{FF2B5EF4-FFF2-40B4-BE49-F238E27FC236}">
                <a16:creationId xmlns:a16="http://schemas.microsoft.com/office/drawing/2014/main" id="{EE0C0BAE-C263-C038-8073-C4A47AE51688}"/>
              </a:ext>
            </a:extLst>
          </p:cNvPr>
          <p:cNvSpPr/>
          <p:nvPr/>
        </p:nvSpPr>
        <p:spPr>
          <a:xfrm>
            <a:off x="102556" y="2577610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718;p41">
            <a:extLst>
              <a:ext uri="{FF2B5EF4-FFF2-40B4-BE49-F238E27FC236}">
                <a16:creationId xmlns:a16="http://schemas.microsoft.com/office/drawing/2014/main" id="{EC136B52-A9B9-8DCB-7C45-CE76295065B8}"/>
              </a:ext>
            </a:extLst>
          </p:cNvPr>
          <p:cNvSpPr/>
          <p:nvPr/>
        </p:nvSpPr>
        <p:spPr>
          <a:xfrm>
            <a:off x="102556" y="3432127"/>
            <a:ext cx="331466" cy="336796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726;p41">
            <a:extLst>
              <a:ext uri="{FF2B5EF4-FFF2-40B4-BE49-F238E27FC236}">
                <a16:creationId xmlns:a16="http://schemas.microsoft.com/office/drawing/2014/main" id="{976A7F37-B58D-E485-3D72-FC59214D596C}"/>
              </a:ext>
            </a:extLst>
          </p:cNvPr>
          <p:cNvSpPr txBox="1">
            <a:spLocks/>
          </p:cNvSpPr>
          <p:nvPr/>
        </p:nvSpPr>
        <p:spPr>
          <a:xfrm>
            <a:off x="434022" y="2543281"/>
            <a:ext cx="5665454" cy="54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Integrazione Radiomica: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Estrazione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 feature di texture avanzate (GLCM, GLRLM) per distinguere patologie a parità di forma..</a:t>
            </a:r>
          </a:p>
        </p:txBody>
      </p:sp>
      <p:sp>
        <p:nvSpPr>
          <p:cNvPr id="10" name="Google Shape;726;p41">
            <a:extLst>
              <a:ext uri="{FF2B5EF4-FFF2-40B4-BE49-F238E27FC236}">
                <a16:creationId xmlns:a16="http://schemas.microsoft.com/office/drawing/2014/main" id="{B9BC7D9E-2BD0-555C-3D05-0FFABE8D41D7}"/>
              </a:ext>
            </a:extLst>
          </p:cNvPr>
          <p:cNvSpPr txBox="1">
            <a:spLocks/>
          </p:cNvSpPr>
          <p:nvPr/>
        </p:nvSpPr>
        <p:spPr>
          <a:xfrm>
            <a:off x="415200" y="3377071"/>
            <a:ext cx="5164500" cy="989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Architettura Ibrida (AI + Rule-</a:t>
            </a:r>
            <a:r>
              <a:rPr lang="it-IT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Delegare la fase di </a:t>
            </a:r>
            <a:r>
              <a:rPr lang="it-IT" sz="1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Detection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modelli di Deep Learning per individuare la zona sospetta, mantenendo il sistema deterministico proposto in questa tesi per l'estrazione fine dei contorni.</a:t>
            </a:r>
          </a:p>
        </p:txBody>
      </p:sp>
      <p:sp>
        <p:nvSpPr>
          <p:cNvPr id="13" name="Google Shape;726;p41">
            <a:extLst>
              <a:ext uri="{FF2B5EF4-FFF2-40B4-BE49-F238E27FC236}">
                <a16:creationId xmlns:a16="http://schemas.microsoft.com/office/drawing/2014/main" id="{AF5FDB83-F3F7-C6CC-C0D6-6C77FDB27BD8}"/>
              </a:ext>
            </a:extLst>
          </p:cNvPr>
          <p:cNvSpPr txBox="1">
            <a:spLocks/>
          </p:cNvSpPr>
          <p:nvPr/>
        </p:nvSpPr>
        <p:spPr>
          <a:xfrm>
            <a:off x="415200" y="1569850"/>
            <a:ext cx="5665454" cy="723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None/>
              <a:defRPr sz="2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Transizione Volumetrica (3D): </a:t>
            </a:r>
            <a:r>
              <a:rPr lang="it-IT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Analisi nativa di volumi voxel per sfruttare la connettività spaziale dei vasi sanguigni (eliminando l'ambiguità del taglio trasversale).</a:t>
            </a:r>
          </a:p>
        </p:txBody>
      </p:sp>
    </p:spTree>
    <p:extLst>
      <p:ext uri="{BB962C8B-B14F-4D97-AF65-F5344CB8AC3E}">
        <p14:creationId xmlns:p14="http://schemas.microsoft.com/office/powerpoint/2010/main" val="33255391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>
          <a:extLst>
            <a:ext uri="{FF2B5EF4-FFF2-40B4-BE49-F238E27FC236}">
              <a16:creationId xmlns:a16="http://schemas.microsoft.com/office/drawing/2014/main" id="{1D6E08D9-5629-D22D-076B-1F2EDDF2A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49">
            <a:extLst>
              <a:ext uri="{FF2B5EF4-FFF2-40B4-BE49-F238E27FC236}">
                <a16:creationId xmlns:a16="http://schemas.microsoft.com/office/drawing/2014/main" id="{365067B8-D201-4AEF-18FE-E6F394831A9D}"/>
              </a:ext>
            </a:extLst>
          </p:cNvPr>
          <p:cNvSpPr/>
          <p:nvPr/>
        </p:nvSpPr>
        <p:spPr>
          <a:xfrm rot="-2700000">
            <a:off x="7578325" y="2487562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3" name="Google Shape;933;p49">
            <a:extLst>
              <a:ext uri="{FF2B5EF4-FFF2-40B4-BE49-F238E27FC236}">
                <a16:creationId xmlns:a16="http://schemas.microsoft.com/office/drawing/2014/main" id="{83B80EE7-014B-AB5A-4061-C2B5178E77AC}"/>
              </a:ext>
            </a:extLst>
          </p:cNvPr>
          <p:cNvGrpSpPr/>
          <p:nvPr/>
        </p:nvGrpSpPr>
        <p:grpSpPr>
          <a:xfrm>
            <a:off x="4262784" y="-94101"/>
            <a:ext cx="5490816" cy="5475238"/>
            <a:chOff x="4262784" y="-94101"/>
            <a:chExt cx="5490816" cy="5475238"/>
          </a:xfrm>
        </p:grpSpPr>
        <p:sp>
          <p:nvSpPr>
            <p:cNvPr id="934" name="Google Shape;934;p49">
              <a:extLst>
                <a:ext uri="{FF2B5EF4-FFF2-40B4-BE49-F238E27FC236}">
                  <a16:creationId xmlns:a16="http://schemas.microsoft.com/office/drawing/2014/main" id="{9BE866B8-5016-9877-6DA4-4CC684C9D2BE}"/>
                </a:ext>
              </a:extLst>
            </p:cNvPr>
            <p:cNvSpPr/>
            <p:nvPr/>
          </p:nvSpPr>
          <p:spPr>
            <a:xfrm flipH="1">
              <a:off x="4589100" y="-94101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9">
              <a:extLst>
                <a:ext uri="{FF2B5EF4-FFF2-40B4-BE49-F238E27FC236}">
                  <a16:creationId xmlns:a16="http://schemas.microsoft.com/office/drawing/2014/main" id="{526C7E54-46CA-2780-A5DC-D1CE3CB37EE1}"/>
                </a:ext>
              </a:extLst>
            </p:cNvPr>
            <p:cNvSpPr/>
            <p:nvPr/>
          </p:nvSpPr>
          <p:spPr>
            <a:xfrm rot="-2699590">
              <a:off x="7795135" y="769228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9">
              <a:extLst>
                <a:ext uri="{FF2B5EF4-FFF2-40B4-BE49-F238E27FC236}">
                  <a16:creationId xmlns:a16="http://schemas.microsoft.com/office/drawing/2014/main" id="{0127490A-3435-FA90-8753-271DC4CADC65}"/>
                </a:ext>
              </a:extLst>
            </p:cNvPr>
            <p:cNvSpPr/>
            <p:nvPr/>
          </p:nvSpPr>
          <p:spPr>
            <a:xfrm>
              <a:off x="5177089" y="2617224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9">
              <a:extLst>
                <a:ext uri="{FF2B5EF4-FFF2-40B4-BE49-F238E27FC236}">
                  <a16:creationId xmlns:a16="http://schemas.microsoft.com/office/drawing/2014/main" id="{77FFA512-5C7E-B111-605C-BCADD0C5F59C}"/>
                </a:ext>
              </a:extLst>
            </p:cNvPr>
            <p:cNvSpPr/>
            <p:nvPr/>
          </p:nvSpPr>
          <p:spPr>
            <a:xfrm rot="-2700000">
              <a:off x="5882759" y="4798887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9">
              <a:extLst>
                <a:ext uri="{FF2B5EF4-FFF2-40B4-BE49-F238E27FC236}">
                  <a16:creationId xmlns:a16="http://schemas.microsoft.com/office/drawing/2014/main" id="{283DA3F7-622F-8E1E-B6A9-A411D4BA3C3F}"/>
                </a:ext>
              </a:extLst>
            </p:cNvPr>
            <p:cNvSpPr/>
            <p:nvPr/>
          </p:nvSpPr>
          <p:spPr>
            <a:xfrm rot="-2699590">
              <a:off x="4117684" y="4473046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CA6F0E98-94D2-C60F-0876-B716D3121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230" y="2231701"/>
            <a:ext cx="5952615" cy="706200"/>
          </a:xfrm>
        </p:spPr>
        <p:txBody>
          <a:bodyPr/>
          <a:lstStyle/>
          <a:p>
            <a:r>
              <a:rPr lang="it-IT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Grazie per l'attenzione</a:t>
            </a:r>
          </a:p>
        </p:txBody>
      </p:sp>
    </p:spTree>
    <p:extLst>
      <p:ext uri="{BB962C8B-B14F-4D97-AF65-F5344CB8AC3E}">
        <p14:creationId xmlns:p14="http://schemas.microsoft.com/office/powerpoint/2010/main" val="601150331"/>
      </p:ext>
    </p:extLst>
  </p:cSld>
  <p:clrMapOvr>
    <a:masterClrMapping/>
  </p:clrMapOvr>
</p:sld>
</file>

<file path=ppt/theme/theme1.xml><?xml version="1.0" encoding="utf-8"?>
<a:theme xmlns:a="http://schemas.openxmlformats.org/drawingml/2006/main" name="Business Administration School Center by Slidesgo">
  <a:themeElements>
    <a:clrScheme name="Simple Light">
      <a:dk1>
        <a:srgbClr val="092241"/>
      </a:dk1>
      <a:lt1>
        <a:srgbClr val="F8F8F8"/>
      </a:lt1>
      <a:dk2>
        <a:srgbClr val="B7B7B7"/>
      </a:dk2>
      <a:lt2>
        <a:srgbClr val="6194E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2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1038</TotalTime>
  <Words>1473</Words>
  <Application>Microsoft Office PowerPoint</Application>
  <PresentationFormat>On-screen Show (16:9)</PresentationFormat>
  <Paragraphs>179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Cambria Math</vt:lpstr>
      <vt:lpstr>Manrope</vt:lpstr>
      <vt:lpstr>Calibri</vt:lpstr>
      <vt:lpstr>DM Sans</vt:lpstr>
      <vt:lpstr>Arial</vt:lpstr>
      <vt:lpstr>Archivo Black</vt:lpstr>
      <vt:lpstr>Archivo</vt:lpstr>
      <vt:lpstr>Business Administration School Center by Slidesgo</vt:lpstr>
      <vt:lpstr>Segmentazione 2D di noduli polmonari in TC Approccio rule-based e analisi dei limiti</vt:lpstr>
      <vt:lpstr>Indice</vt:lpstr>
      <vt:lpstr>OBIETTIVI DEL PROGETTO</vt:lpstr>
      <vt:lpstr>Le Difficoltà della Segmentazione 2D</vt:lpstr>
      <vt:lpstr>Il Dataset di Riferimento: LIDC-IDRI</vt:lpstr>
      <vt:lpstr>La Sfida della Ground Truth: Variabilità Inter-Observer</vt:lpstr>
      <vt:lpstr>Metrica di Valutazione: Best-Match Dice</vt:lpstr>
      <vt:lpstr>Architettura della Pipeline di Segmentazione</vt:lpstr>
      <vt:lpstr>PRE-PROCESSING</vt:lpstr>
      <vt:lpstr>Isolamento del Parenchima Polmonare</vt:lpstr>
      <vt:lpstr>Estrazione Candidati</vt:lpstr>
      <vt:lpstr>Le Tipologie di Lesioni Candidate</vt:lpstr>
      <vt:lpstr>PowerPoint Presentation</vt:lpstr>
      <vt:lpstr>Noduli Juxtapleurici</vt:lpstr>
      <vt:lpstr>FEATURE EXTRACTION</vt:lpstr>
      <vt:lpstr>Coerenza Tubolare: Il Filtro 2.5D</vt:lpstr>
      <vt:lpstr>PowerPoint Presentation</vt:lpstr>
      <vt:lpstr>Funzione di Scoring Deterministica</vt:lpstr>
      <vt:lpstr>Selezione del Candidato</vt:lpstr>
      <vt:lpstr>Output: Predizione vs Ground Truth</vt:lpstr>
      <vt:lpstr>Prestazioni sui Casi Rilevati</vt:lpstr>
      <vt:lpstr>Prestazioni Globali e Impatto dei Fallimenti</vt:lpstr>
      <vt:lpstr>Curva di Robustezza</vt:lpstr>
      <vt:lpstr>Analisi degli Errori</vt:lpstr>
      <vt:lpstr>Confronto: Caso di successo vs Limite 2D</vt:lpstr>
      <vt:lpstr>CONCLUSIONI</vt:lpstr>
      <vt:lpstr>SVILUPPI FUTURI</vt:lpstr>
      <vt:lpstr>Grazie per l'attenzione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Fvego</dc:creator>
  <cp:lastModifiedBy>MASTRANGELO ANGELO</cp:lastModifiedBy>
  <cp:revision>6</cp:revision>
  <dcterms:modified xsi:type="dcterms:W3CDTF">2026-04-20T19:48:00Z</dcterms:modified>
</cp:coreProperties>
</file>